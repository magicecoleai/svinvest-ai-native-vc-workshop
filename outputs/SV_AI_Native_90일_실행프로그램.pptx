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f48a3101994039" /><Relationship Type="http://schemas.openxmlformats.org/officeDocument/2006/relationships/extended-properties" Target="/docProps/app.xml" Id="R130529b2d1454811" /><Relationship Type="http://schemas.openxmlformats.org/officeDocument/2006/relationships/officeDocument" Target="/ppt/presentation.xml" Id="Rea6145d887ac46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53f5988c8a4479"/>
  </p:sldMasterIdLst>
  <p:notesMasterIdLst>
    <p:notesMasterId xmlns:r="http://schemas.openxmlformats.org/officeDocument/2006/relationships" r:id="R9643c3cc7ec7446e"/>
  </p:notesMasterIdLst>
  <p:sldIdLst>
    <p:sldId xmlns:r="http://schemas.openxmlformats.org/officeDocument/2006/relationships" id="256" r:id="Rb30692949b684c6e"/>
    <p:sldId xmlns:r="http://schemas.openxmlformats.org/officeDocument/2006/relationships" id="257" r:id="R81b906a0f9a740de"/>
    <p:sldId xmlns:r="http://schemas.openxmlformats.org/officeDocument/2006/relationships" id="258" r:id="R23d6452f10ca4040"/>
    <p:sldId xmlns:r="http://schemas.openxmlformats.org/officeDocument/2006/relationships" id="259" r:id="Rf5879a2c44ce4031"/>
    <p:sldId xmlns:r="http://schemas.openxmlformats.org/officeDocument/2006/relationships" id="260" r:id="R5e963c7ce6b24325"/>
    <p:sldId xmlns:r="http://schemas.openxmlformats.org/officeDocument/2006/relationships" id="261" r:id="R751b44efdc454dd2"/>
    <p:sldId xmlns:r="http://schemas.openxmlformats.org/officeDocument/2006/relationships" id="262" r:id="R358d8a1922224085"/>
    <p:sldId xmlns:r="http://schemas.openxmlformats.org/officeDocument/2006/relationships" id="263" r:id="R78625fc1ae5449e9"/>
    <p:sldId xmlns:r="http://schemas.openxmlformats.org/officeDocument/2006/relationships" id="264" r:id="R22ce4481edd74822"/>
    <p:sldId xmlns:r="http://schemas.openxmlformats.org/officeDocument/2006/relationships" id="265" r:id="Rba58649a45a64e6b"/>
    <p:sldId xmlns:r="http://schemas.openxmlformats.org/officeDocument/2006/relationships" id="266" r:id="R69a2198b85674246"/>
    <p:sldId xmlns:r="http://schemas.openxmlformats.org/officeDocument/2006/relationships" id="267" r:id="Rce560c627c0b49f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84b181864d4cd7" /><Relationship Type="http://schemas.openxmlformats.org/officeDocument/2006/relationships/slideMaster" Target="/ppt/slideMasters/slideMaster1.xml" Id="R9b53f5988c8a4479" /><Relationship Type="http://schemas.openxmlformats.org/officeDocument/2006/relationships/notesMaster" Target="/ppt/notesMasters/notesMaster1.xml" Id="R9643c3cc7ec7446e" /><Relationship Type="http://schemas.openxmlformats.org/officeDocument/2006/relationships/presProps" Target="/ppt/presProps.xml" Id="R0b9ca6733d574ad2" /><Relationship Type="http://schemas.openxmlformats.org/officeDocument/2006/relationships/tableStyles" Target="/ppt/tableStyles.xml" Id="R3351249eac8a4c73" /><Relationship Type="http://schemas.openxmlformats.org/officeDocument/2006/relationships/slide" Target="/ppt/slides/slide1.xml" Id="Rb30692949b684c6e" /><Relationship Type="http://schemas.openxmlformats.org/officeDocument/2006/relationships/slide" Target="/ppt/slides/slide2.xml" Id="R81b906a0f9a740de" /><Relationship Type="http://schemas.openxmlformats.org/officeDocument/2006/relationships/slide" Target="/ppt/slides/slide3.xml" Id="R23d6452f10ca4040" /><Relationship Type="http://schemas.openxmlformats.org/officeDocument/2006/relationships/slide" Target="/ppt/slides/slide4.xml" Id="Rf5879a2c44ce4031" /><Relationship Type="http://schemas.openxmlformats.org/officeDocument/2006/relationships/slide" Target="/ppt/slides/slide5.xml" Id="R5e963c7ce6b24325" /><Relationship Type="http://schemas.openxmlformats.org/officeDocument/2006/relationships/slide" Target="/ppt/slides/slide6.xml" Id="R751b44efdc454dd2" /><Relationship Type="http://schemas.openxmlformats.org/officeDocument/2006/relationships/slide" Target="/ppt/slides/slide7.xml" Id="R358d8a1922224085" /><Relationship Type="http://schemas.openxmlformats.org/officeDocument/2006/relationships/slide" Target="/ppt/slides/slide8.xml" Id="R78625fc1ae5449e9" /><Relationship Type="http://schemas.openxmlformats.org/officeDocument/2006/relationships/slide" Target="/ppt/slides/slide9.xml" Id="R22ce4481edd74822" /><Relationship Type="http://schemas.openxmlformats.org/officeDocument/2006/relationships/slide" Target="/ppt/slides/slide10.xml" Id="Rba58649a45a64e6b" /><Relationship Type="http://schemas.openxmlformats.org/officeDocument/2006/relationships/slide" Target="/ppt/slides/slide11.xml" Id="R69a2198b85674246" /><Relationship Type="http://schemas.openxmlformats.org/officeDocument/2006/relationships/slide" Target="/ppt/slides/slide12.xml" Id="Rce560c627c0b49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df47fa94c54a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7d8699a8134f0f" /><Relationship Type="http://schemas.openxmlformats.org/officeDocument/2006/relationships/notesMaster" Target="/ppt/notesMasters/notesMaster1.xml" Id="Rce96ceb3463b45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1e75cfe2664f0a" /><Relationship Type="http://schemas.openxmlformats.org/officeDocument/2006/relationships/notesMaster" Target="/ppt/notesMasters/notesMaster1.xml" Id="Redaa0a6faf2945d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9caa0c131540d3" /><Relationship Type="http://schemas.openxmlformats.org/officeDocument/2006/relationships/notesMaster" Target="/ppt/notesMasters/notesMaster1.xml" Id="Rbc5917f1ec7b482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f651e8b3f6c493f" /><Relationship Type="http://schemas.openxmlformats.org/officeDocument/2006/relationships/notesMaster" Target="/ppt/notesMasters/notesMaster1.xml" Id="R29b19ca8a12741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45240d36c8477f" /><Relationship Type="http://schemas.openxmlformats.org/officeDocument/2006/relationships/notesMaster" Target="/ppt/notesMasters/notesMaster1.xml" Id="Rec7867c370f348d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41737ab476c4834" /><Relationship Type="http://schemas.openxmlformats.org/officeDocument/2006/relationships/notesMaster" Target="/ppt/notesMasters/notesMaster1.xml" Id="R25267fd3a02d4c9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b7abbaa7c8d4b31" /><Relationship Type="http://schemas.openxmlformats.org/officeDocument/2006/relationships/notesMaster" Target="/ppt/notesMasters/notesMaster1.xml" Id="R03cdb5d44862419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5a527a9b40b4966" /><Relationship Type="http://schemas.openxmlformats.org/officeDocument/2006/relationships/notesMaster" Target="/ppt/notesMasters/notesMaster1.xml" Id="R3b38857b1ea344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e2828cb4ed442a6" /><Relationship Type="http://schemas.openxmlformats.org/officeDocument/2006/relationships/notesMaster" Target="/ppt/notesMasters/notesMaster1.xml" Id="R0ffd4f8e2dcd450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c8d4f79b9ae4671" /><Relationship Type="http://schemas.openxmlformats.org/officeDocument/2006/relationships/notesMaster" Target="/ppt/notesMasters/notesMaster1.xml" Id="Rdff6ca992fc8499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2f825f647454d49" /><Relationship Type="http://schemas.openxmlformats.org/officeDocument/2006/relationships/notesMaster" Target="/ppt/notesMasters/notesMaster1.xml" Id="R850e202a3aaa420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6b103ad2e014ff6" /><Relationship Type="http://schemas.openxmlformats.org/officeDocument/2006/relationships/notesMaster" Target="/ppt/notesMasters/notesMaster1.xml" Id="Re8d7453bce9a4bd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dba9e80ba44bf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f83b65d29c4b81" /><Relationship Type="http://schemas.openxmlformats.org/officeDocument/2006/relationships/slideLayout" Target="/ppt/slideLayouts/slideLayout1.xml" Id="R368875ca54fc48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8875ca54fc48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ce715bc92c49fd" /><Relationship Type="http://schemas.openxmlformats.org/officeDocument/2006/relationships/notesSlide" Target="/ppt/notesSlides/notesSlide1.xml" Id="R14292bd931fd4b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03022535754155" /><Relationship Type="http://schemas.openxmlformats.org/officeDocument/2006/relationships/notesSlide" Target="/ppt/notesSlides/notesSlide2.xml" Id="Rdf25f30eb8fb43a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d68482ad6f4e0d" /><Relationship Type="http://schemas.openxmlformats.org/officeDocument/2006/relationships/notesSlide" Target="/ppt/notesSlides/notesSlide3.xml" Id="R7e0231de96a346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bf35b6abbf4c90" /><Relationship Type="http://schemas.openxmlformats.org/officeDocument/2006/relationships/notesSlide" Target="/ppt/notesSlides/notesSlide4.xml" Id="R00a8853e986049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5b9815390c4fb6" /><Relationship Type="http://schemas.openxmlformats.org/officeDocument/2006/relationships/notesSlide" Target="/ppt/notesSlides/notesSlide5.xml" Id="R5a3a45eb7bb74a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150c5087d44bdf" /><Relationship Type="http://schemas.openxmlformats.org/officeDocument/2006/relationships/notesSlide" Target="/ppt/notesSlides/notesSlide6.xml" Id="R8748d9f18b31425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2a7af570c4c4f" /><Relationship Type="http://schemas.openxmlformats.org/officeDocument/2006/relationships/notesSlide" Target="/ppt/notesSlides/notesSlide7.xml" Id="R9a2353b6f1fe43a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27c90b660c4709" /><Relationship Type="http://schemas.openxmlformats.org/officeDocument/2006/relationships/notesSlide" Target="/ppt/notesSlides/notesSlide8.xml" Id="R1dab961d682c484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b19fbe6e854c8e" /><Relationship Type="http://schemas.openxmlformats.org/officeDocument/2006/relationships/notesSlide" Target="/ppt/notesSlides/notesSlide9.xml" Id="Rf8799b4c32414c1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bb75579f62474c" /><Relationship Type="http://schemas.openxmlformats.org/officeDocument/2006/relationships/notesSlide" Target="/ppt/notesSlides/notesSlide10.xml" Id="R20661e91826a4a6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01a7ff0a814b73" /><Relationship Type="http://schemas.openxmlformats.org/officeDocument/2006/relationships/notesSlide" Target="/ppt/notesSlides/notesSlide11.xml" Id="Rfb5176cd698e497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7f7d7533ac44fb" /><Relationship Type="http://schemas.openxmlformats.org/officeDocument/2006/relationships/notesSlide" Target="/ppt/notesSlides/notesSlide12.xml" Id="R2eedb4cc5ce9485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D96602-F5E1-4EF6-9AC1-98C50C3F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000500"/>
            <a:ext cx="4953000" cy="495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E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0C7C1B-11B4-4DD5-BC8E-C29589281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524000" y="-1714500"/>
            <a:ext cx="4000500" cy="4000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8DBF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E2DC1D-1DD5-4E35-830F-702754D7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80ED"/>
                </a:solidFill>
              </a:defRPr>
            </a:pPr>
            <a:r>
              <a:rPr sz="150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ECEFBD-2D69-432F-81EE-189E663B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38250"/>
            <a:ext cx="7239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B1F3A"/>
                </a:solidFill>
              </a:defRPr>
            </a:pPr>
            <a:r>
              <a:rPr sz="4350" b="1">
                <a:solidFill>
                  <a:srgbClr val="0B1F3A"/>
                </a:solidFill>
              </a:rPr>
              <a:t>90일 AI Native</a:t>
            </a:r>
          </a:p>
          <a:p xmlns:a="http://schemas.openxmlformats.org/drawingml/2006/main">
            <a:pPr algn="l">
              <a:defRPr sz="4350" b="1">
                <a:solidFill>
                  <a:srgbClr val="0B1F3A"/>
                </a:solidFill>
              </a:defRPr>
            </a:pPr>
            <a:r>
              <a:rPr sz="4350" b="1">
                <a:solidFill>
                  <a:srgbClr val="0B1F3A"/>
                </a:solidFill>
              </a:rPr>
              <a:t>실행 프로그램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8D5053-7035-4E45-81E7-030CF5D1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342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F75133-ED0B-4FB9-B2E1-B0EA8E66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9450"/>
            <a:ext cx="895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E58C8"/>
                </a:solidFill>
              </a:defRPr>
            </a:pPr>
            <a:r>
              <a:rPr sz="2100" b="1">
                <a:solidFill>
                  <a:srgbClr val="0E58C8"/>
                </a:solidFill>
              </a:rPr>
              <a:t>교육 + 업무 발굴 + 내부 도메인 전문가 + PoC 산출물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BEC82F-4068-4459-8BB4-5D34DF29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05250"/>
            <a:ext cx="781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C6B7A"/>
                </a:solidFill>
              </a:defRPr>
            </a:pPr>
            <a:r>
              <a:rPr sz="1650" b="0">
                <a:solidFill>
                  <a:srgbClr val="5C6B7A"/>
                </a:solidFill>
              </a:rPr>
              <a:t>단순 PoC 제안이 아니라, SV 내부 실행 역량과 실증 산출물을 동시에 만드는 전환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9743B5-EFF6-4DCA-9E49-9176B200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953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magicecole</a:t>
            </a:r>
          </a:p>
        </p:txBody>
      </p:sp>
    </p:spTree>
    <p:extLst>
      <p:ext uri="{BB962C8B-B14F-4D97-AF65-F5344CB8AC3E}">
        <p14:creationId xmlns:p14="http://schemas.microsoft.com/office/powerpoint/2010/main" val="17768484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CD7B0A-82BA-4619-95EF-3A8B8ACB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C08849-01F1-492F-B86E-86B22F0CD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마지막 제안은 PoC 3개가 아닙니다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B7CA06-D232-4CE7-867F-E9AE08928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2D6737-48B1-4D4C-9944-78A8D422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BAEC51-0172-4E98-AF3C-DAAD6C032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CCEB3D-06A7-4AAC-B35E-7C9AE84C2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7439F3-BD0C-44F0-94FF-E6481A09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0A74EC-DFF6-4D08-8445-F68C0D4B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4953000" cy="3009900"/>
          </a:xfrm>
          <a:prstGeom xmlns:a="http://schemas.openxmlformats.org/drawingml/2006/main" prst="roundRect">
            <a:avLst>
              <a:gd name="adj" fmla="val 3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CA8835-0606-416C-ACC8-BDDD5A6E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762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6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A8B8C-E439-4597-991A-FA4AB207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43100"/>
            <a:ext cx="449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약한 제안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1CE6A5-B84A-482A-A544-B9B88435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44958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• IC Copilot 합시다</a:t>
            </a:r>
          </a:p>
          <a:p xmlns:a="http://schemas.openxmlformats.org/drawingml/2006/main">
            <a:pPr algn="l"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• Portfolio Radar 합시다</a:t>
            </a:r>
          </a:p>
          <a:p xmlns:a="http://schemas.openxmlformats.org/drawingml/2006/main">
            <a:pPr algn="l"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• Global BD Agent 합시다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상대 반응:</a:t>
            </a:r>
          </a:p>
          <a:p xmlns:a="http://schemas.openxmlformats.org/drawingml/2006/main">
            <a:pPr algn="l"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“SI 제안인가?”</a:t>
            </a:r>
          </a:p>
          <a:p xmlns:a="http://schemas.openxmlformats.org/drawingml/2006/main">
            <a:pPr algn="l"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“우리가 왜 지금 해야 하지?”</a:t>
            </a:r>
          </a:p>
          <a:p xmlns:a="http://schemas.openxmlformats.org/drawingml/2006/main">
            <a:pPr algn="l"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“누가 운영하지?”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A5D9AB-77A7-48C2-AD83-11FCF69D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52600"/>
            <a:ext cx="4953000" cy="3009900"/>
          </a:xfrm>
          <a:prstGeom xmlns:a="http://schemas.openxmlformats.org/drawingml/2006/main" prst="roundRect">
            <a:avLst>
              <a:gd name="adj" fmla="val 3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552707-31AC-410E-BD02-5B7DF6DF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52600"/>
            <a:ext cx="762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CA8769-6ABF-4AF0-BE58-9BF39D1BB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943100"/>
            <a:ext cx="449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강한 제안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9DB0B8-F8C0-47AC-8F15-A5A50D8D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362200"/>
            <a:ext cx="44958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• 교육으로 공통 언어 형성</a:t>
            </a:r>
          </a:p>
          <a:p xmlns:a="http://schemas.openxmlformats.org/drawingml/2006/main">
            <a:pPr algn="l"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• 업무 발굴로 우선순위 도출</a:t>
            </a:r>
          </a:p>
          <a:p xmlns:a="http://schemas.openxmlformats.org/drawingml/2006/main">
            <a:pPr algn="l"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• 내부 도메인 전문가 양성</a:t>
            </a:r>
          </a:p>
          <a:p xmlns:a="http://schemas.openxmlformats.org/drawingml/2006/main">
            <a:pPr algn="l"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• 90일 안에 작동 산출물 확보</a:t>
            </a:r>
          </a:p>
          <a:p xmlns:a="http://schemas.openxmlformats.org/drawingml/2006/main">
            <a:pPr algn="l"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• 조직 맞춤 확산 로드맵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46DC15-3D54-413E-B65B-4C4C99D9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1970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B1F3A"/>
                </a:solidFill>
              </a:defRPr>
            </a:pPr>
            <a:r>
              <a:rPr sz="1875" b="1">
                <a:solidFill>
                  <a:srgbClr val="0B1F3A"/>
                </a:solidFill>
              </a:rPr>
              <a:t>핵심은 시스템 납품이 아니라 내부 실행 역량과 실증 산출물을 같이 만드는 것입니다.</a:t>
            </a:r>
          </a:p>
        </p:txBody>
      </p:sp>
    </p:spTree>
    <p:extLst>
      <p:ext uri="{BB962C8B-B14F-4D97-AF65-F5344CB8AC3E}">
        <p14:creationId xmlns:p14="http://schemas.microsoft.com/office/powerpoint/2010/main" val="7578526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779AE6-42E7-468B-A7AB-18920A7F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30DC8A-61B3-49F7-BB49-EB146D808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왜 많은 조직이 AI 도입에서 멈추는가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CFC873-962C-4A14-9352-3D8615D65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B0849A-E6C4-4D79-BB8F-10502145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55A6AE-CB5B-40D8-B2BA-3FB78E107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BE9735-7C9E-43F4-A7EB-D6656DF9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7003A5-529E-491B-A5F4-0F0CB553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CAB573-02D0-4E98-8B28-D093A392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3028950" cy="2524125"/>
          </a:xfrm>
          <a:prstGeom xmlns:a="http://schemas.openxmlformats.org/drawingml/2006/main" prst="roundRect">
            <a:avLst>
              <a:gd name="adj" fmla="val 45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1E5F65-0991-4695-938E-2E2E47CD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95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76FFF8-BEC4-4DEE-A4FC-12F0BA0F8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24790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F80ED"/>
                </a:solidFill>
              </a:defRPr>
            </a:pPr>
            <a:r>
              <a:rPr sz="1950" b="1">
                <a:solidFill>
                  <a:srgbClr val="2F80ED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7B1D10-2CAF-4822-881D-85EC2A92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289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1F3A"/>
                </a:solidFill>
              </a:defRPr>
            </a:pPr>
            <a:r>
              <a:rPr sz="2250" b="1">
                <a:solidFill>
                  <a:srgbClr val="0B1F3A"/>
                </a:solidFill>
              </a:rPr>
              <a:t>어디부터?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2F1727-414C-44DE-8B42-55D8B6B7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43300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C6B7A"/>
                </a:solidFill>
              </a:defRPr>
            </a:pPr>
            <a:r>
              <a:rPr sz="1425" b="0">
                <a:solidFill>
                  <a:srgbClr val="5C6B7A"/>
                </a:solidFill>
              </a:rPr>
              <a:t>우리 업무 중 AI를 어디에 붙여야 하는지 모릅니다.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E4B3C8-6D00-4247-97CD-BD672E6A4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809750"/>
            <a:ext cx="3028950" cy="2524125"/>
          </a:xfrm>
          <a:prstGeom xmlns:a="http://schemas.openxmlformats.org/drawingml/2006/main" prst="roundRect">
            <a:avLst>
              <a:gd name="adj" fmla="val 45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5689C3-EE7A-49E7-90AB-153E4652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95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EF05D-C9B4-4424-AB97-9236298F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24790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F80ED"/>
                </a:solidFill>
              </a:defRPr>
            </a:pPr>
            <a:r>
              <a:rPr sz="1950" b="1">
                <a:solidFill>
                  <a:srgbClr val="2F80ED"/>
                </a:solidFill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DBC29F-A54A-4ECA-9C9D-369689B1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0289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1F3A"/>
                </a:solidFill>
              </a:defRPr>
            </a:pPr>
            <a:r>
              <a:rPr sz="2250" b="1">
                <a:solidFill>
                  <a:srgbClr val="0B1F3A"/>
                </a:solidFill>
              </a:rPr>
              <a:t>어디까지?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FAA829-C934-40A8-9962-7C4186342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543300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C6B7A"/>
                </a:solidFill>
              </a:defRPr>
            </a:pPr>
            <a:r>
              <a:rPr sz="1425" b="0">
                <a:solidFill>
                  <a:srgbClr val="5C6B7A"/>
                </a:solidFill>
              </a:rPr>
              <a:t>현재 내부 역량으로 어디까지 가능한지 판단하기 어렵습니다.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557139-639D-4F3F-A75B-DE697983C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09750"/>
            <a:ext cx="3028950" cy="2524125"/>
          </a:xfrm>
          <a:prstGeom xmlns:a="http://schemas.openxmlformats.org/drawingml/2006/main" prst="roundRect">
            <a:avLst>
              <a:gd name="adj" fmla="val 45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9FBECD-6CD2-4DF9-889F-2C774AD3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095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11228C-707F-4B2B-999E-DAA3C675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24790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F80ED"/>
                </a:solidFill>
              </a:defRPr>
            </a:pPr>
            <a:r>
              <a:rPr sz="1950" b="1">
                <a:solidFill>
                  <a:srgbClr val="2F80ED"/>
                </a:solidFill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8CDE40-915D-4BD6-BF88-F076D4446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0289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1F3A"/>
                </a:solidFill>
              </a:defRPr>
            </a:pPr>
            <a:r>
              <a:rPr sz="2250" b="1">
                <a:solidFill>
                  <a:srgbClr val="0B1F3A"/>
                </a:solidFill>
              </a:rPr>
              <a:t>누가?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07AA9F-BB51-4EC4-B546-D073D2E95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543300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C6B7A"/>
                </a:solidFill>
              </a:defRPr>
            </a:pPr>
            <a:r>
              <a:rPr sz="1425" b="0">
                <a:solidFill>
                  <a:srgbClr val="5C6B7A"/>
                </a:solidFill>
              </a:rPr>
              <a:t>만든 뒤 누가 운영하고 개선할지 정해져 있지 않습니다.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554326-D00C-4B92-A734-2AC41C64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1009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E58C8"/>
                </a:solidFill>
              </a:defRPr>
            </a:pPr>
            <a:r>
              <a:rPr sz="1875" b="1">
                <a:solidFill>
                  <a:srgbClr val="0E58C8"/>
                </a:solidFill>
              </a:rPr>
              <a:t>그래서 필요한 것은 단순 도구 도입이 아니라, 조직이 스스로 판단하고 운영할 수 있게 만드는 실행 체계입니다.</a:t>
            </a:r>
          </a:p>
        </p:txBody>
      </p:sp>
    </p:spTree>
    <p:extLst>
      <p:ext uri="{BB962C8B-B14F-4D97-AF65-F5344CB8AC3E}">
        <p14:creationId xmlns:p14="http://schemas.microsoft.com/office/powerpoint/2010/main" val="13460634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527544-CF19-41C7-A1EA-FF2B5C01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7AA1E3-C70E-4F90-90CF-E1AC4A9E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매직에꼴의 접근법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F532EF-57CC-4416-836F-66F7F1FE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859BDB-BB87-481B-969A-2535DAA1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660EC2-E541-4CA4-82A8-C0EA4CBD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267B08-06D0-4169-BC0F-D242E7CBD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08659A-8B9B-4151-A5E1-30600C30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536D67-8319-4304-8DCB-0ACC06B8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7145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562420-C0F3-466D-9880-73F4C884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95550"/>
            <a:ext cx="1409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AI 교육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E0F798-05B4-41B2-9B1D-07E2D6B57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F80ED"/>
                </a:solidFill>
              </a:defRPr>
            </a:pPr>
            <a:r>
              <a:rPr sz="1275" b="1">
                <a:solidFill>
                  <a:srgbClr val="2F80ED"/>
                </a:solidFill>
              </a:rPr>
              <a:t>공통 언어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BBB0F2-F182-48A3-BA82-2DA2BF61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7813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F80ED"/>
                </a:solidFill>
              </a:defRPr>
            </a:pPr>
            <a:r>
              <a:rPr sz="2250" b="1">
                <a:solidFill>
                  <a:srgbClr val="2F80ED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FE98E7-05B4-4A85-8AC8-430063CA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0750"/>
            <a:ext cx="17145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77BE60-9E66-46B4-BE96-D4382736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95550"/>
            <a:ext cx="1409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업무 발굴</a:t>
            </a:r>
          </a:p>
          <a:p xmlns:a="http://schemas.openxmlformats.org/drawingml/2006/main">
            <a:pPr algn="ctr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컨설팅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ED6552-C140-45CE-9F8B-64EFEF675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813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F80ED"/>
                </a:solidFill>
              </a:defRPr>
            </a:pPr>
            <a:r>
              <a:rPr sz="1275" b="1">
                <a:solidFill>
                  <a:srgbClr val="2F80ED"/>
                </a:solidFill>
              </a:rPr>
              <a:t>우선순위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7ED66F-8FD1-47F8-9669-E78000591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813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F80ED"/>
                </a:solidFill>
              </a:defRPr>
            </a:pPr>
            <a:r>
              <a:rPr sz="2250" b="1">
                <a:solidFill>
                  <a:srgbClr val="2F80ED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D15A1-1ECE-4B8A-854D-0E8E0B14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190750"/>
            <a:ext cx="17145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D6F0DE-8972-4C08-A098-1E62B8AE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95550"/>
            <a:ext cx="1409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내부 도메인</a:t>
            </a:r>
          </a:p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전문가 양성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C1FB51-2710-4178-91E2-B6DB987C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813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C400"/>
                </a:solidFill>
              </a:defRPr>
            </a:pPr>
            <a:r>
              <a:rPr sz="1275" b="1">
                <a:solidFill>
                  <a:srgbClr val="FFC400"/>
                </a:solidFill>
              </a:rPr>
              <a:t>오너십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3E624-C397-4B31-A5CD-BF0B7C29C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813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F80ED"/>
                </a:solidFill>
              </a:defRPr>
            </a:pPr>
            <a:r>
              <a:rPr sz="2250" b="1">
                <a:solidFill>
                  <a:srgbClr val="2F80ED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82DE3A-62DA-45EF-BB92-3C896909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90750"/>
            <a:ext cx="17145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1A6EDA-6AB7-463E-B24E-D6C04A20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95550"/>
            <a:ext cx="1409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90일 PoC</a:t>
            </a:r>
          </a:p>
          <a:p xmlns:a="http://schemas.openxmlformats.org/drawingml/2006/main">
            <a:pPr algn="ctr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산출물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D84DA7-1BC6-4143-9E9A-49415DC85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1813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F80ED"/>
                </a:solidFill>
              </a:defRPr>
            </a:pPr>
            <a:r>
              <a:rPr sz="1275" b="1">
                <a:solidFill>
                  <a:srgbClr val="2F80ED"/>
                </a:solidFill>
              </a:rPr>
              <a:t>실증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000DAA-9600-4D5C-B523-0F919E4C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7813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F80ED"/>
                </a:solidFill>
              </a:defRPr>
            </a:pPr>
            <a:r>
              <a:rPr sz="2250" b="1">
                <a:solidFill>
                  <a:srgbClr val="2F80ED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E0628F-7C08-4F92-9A97-F0C1F9CF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90750"/>
            <a:ext cx="17145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5DBEF7-ECC1-489C-AC86-70ACDA2E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495550"/>
            <a:ext cx="1409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AI Native</a:t>
            </a:r>
          </a:p>
          <a:p xmlns:a="http://schemas.openxmlformats.org/drawingml/2006/main">
            <a:pPr algn="ctr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추진안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DAD25F-E093-4B33-A5B9-98F19374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1813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F80ED"/>
                </a:solidFill>
              </a:defRPr>
            </a:pPr>
            <a:r>
              <a:rPr sz="1275" b="1">
                <a:solidFill>
                  <a:srgbClr val="2F80ED"/>
                </a:solidFill>
              </a:rPr>
              <a:t>확산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C6DC81-F19A-47C5-85B4-FB15F0064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1010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B1F3A"/>
                </a:solidFill>
              </a:defRPr>
            </a:pPr>
            <a:r>
              <a:rPr sz="1875" b="1">
                <a:solidFill>
                  <a:srgbClr val="0B1F3A"/>
                </a:solidFill>
              </a:rPr>
              <a:t>단순 교육도, 외부 SI 구축도 아닙니다. 내부 업무를 가장 잘 아는 사람과 함께 작동 산출물을 만드는 방식입니다.</a:t>
            </a:r>
          </a:p>
        </p:txBody>
      </p:sp>
    </p:spTree>
    <p:extLst>
      <p:ext uri="{BB962C8B-B14F-4D97-AF65-F5344CB8AC3E}">
        <p14:creationId xmlns:p14="http://schemas.microsoft.com/office/powerpoint/2010/main" val="3366972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156105-79FC-4F8D-8D6D-6B15D228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3F3D60-BC42-4440-8F18-869EE632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90일 프로그램 한눈에 보기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566D39-1B6D-4AF9-9205-0F402D90E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586FBD-6E1C-47DE-B4FD-820A7865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BCB288-A346-4808-B34F-0CC73F37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C0BAB-0AEC-42B4-92B9-AC787316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33D376-12FE-4BC9-B95C-8EAAA61B3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1864B8-68AF-4B35-A187-90BF254D4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47850"/>
            <a:ext cx="2266950" cy="27622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5E2645-E0FC-42C3-99A1-E2E40217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33600"/>
            <a:ext cx="876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318184-395D-4D49-B123-7E1F901B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0027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1-2주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6D56DF-3F80-4138-8283-5A12EF42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860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공통 언어 형성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262308-B07B-442C-B33F-6E701BBC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95650"/>
            <a:ext cx="1809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핵심 교육</a:t>
            </a:r>
          </a:p>
          <a:p xmlns:a="http://schemas.openxmlformats.org/drawingml/2006/main">
            <a:pPr algn="l"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업무 후보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588921-2766-478A-B2CE-68B85B36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847850"/>
            <a:ext cx="2266950" cy="27622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166CBB-FCDB-41EC-AF2C-26D2A873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133600"/>
            <a:ext cx="876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75AF84-D99F-4295-8CB1-15E3801D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20027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3-4주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E435C6-44E8-48F2-95F0-7212CA4F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860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적용 업무 발굴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A04BDC-9EDE-44E5-BEA2-DBBAFECE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295650"/>
            <a:ext cx="1809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ROI 매트릭스</a:t>
            </a:r>
          </a:p>
          <a:p xmlns:a="http://schemas.openxmlformats.org/drawingml/2006/main">
            <a:pPr algn="l"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PoC 후보 3개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850C29-143D-4C18-9FDF-A7E0600B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47850"/>
            <a:ext cx="2266950" cy="27622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A4D4C7-BE68-49E7-9585-820A46FE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133600"/>
            <a:ext cx="876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2F8EE6-F113-4146-BD6E-8AEBEE42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0027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5-8주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FE1937-40CC-482D-8383-72C32DB9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860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전문가 양성/설계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A7A0A0-C8F7-44A1-88E2-D254A46B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1809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Context Pack</a:t>
            </a:r>
          </a:p>
          <a:p xmlns:a="http://schemas.openxmlformats.org/drawingml/2006/main">
            <a:pPr algn="l">
              <a:defRPr sz="1575" b="0">
                <a:solidFill>
                  <a:srgbClr val="5C6B7A"/>
                </a:solidFill>
              </a:defRPr>
            </a:pPr>
            <a:r>
              <a:rPr sz="1575" b="0">
                <a:solidFill>
                  <a:srgbClr val="5C6B7A"/>
                </a:solidFill>
              </a:rPr>
              <a:t>업무 루프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787162-54E1-4693-BA3B-807CA0F98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847850"/>
            <a:ext cx="2266950" cy="27622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FA3B9A-C6B1-47A6-9965-A0469B63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33600"/>
            <a:ext cx="876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633C0B-5530-43D9-B41F-97FE0706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0027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9-12주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0F01D7-E8C9-492B-95B5-8B1B0F70B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860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제작/검증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F6F24A-6E49-4366-BAFA-D2E64038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295650"/>
            <a:ext cx="1809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PoC 산출물</a:t>
            </a:r>
          </a:p>
          <a:p xmlns:a="http://schemas.openxmlformats.org/drawingml/2006/main"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KPI 리포트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627331-695D-482D-9FB2-37555D65E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816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E58C8"/>
                </a:solidFill>
              </a:defRPr>
            </a:pPr>
            <a:r>
              <a:rPr sz="2025" b="1">
                <a:solidFill>
                  <a:srgbClr val="0E58C8"/>
                </a:solidFill>
              </a:rPr>
              <a:t>90일의 목표는 ‘학습 완료’가 아니라 ‘조직 안에 남는 산출물’입니다.</a:t>
            </a:r>
          </a:p>
        </p:txBody>
      </p:sp>
    </p:spTree>
    <p:extLst>
      <p:ext uri="{BB962C8B-B14F-4D97-AF65-F5344CB8AC3E}">
        <p14:creationId xmlns:p14="http://schemas.microsoft.com/office/powerpoint/2010/main" val="8883867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3C90B4-987C-4842-903C-5993F8B9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6C2E0F-910A-4C3C-A1A4-4BC5D2C8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프로그램 구조: 교육에서 로드맵까지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A97AB3-C23E-47C6-A5B1-92ABC5BF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0BC706-504C-40AF-B801-578854A3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9A5CE1-2003-4EF8-9770-9C775FFBA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2C4BB8-86D2-4B5D-8364-F93CB2926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C5829B-5468-427C-A486-76F874CC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D931DF-D06F-49D6-89DF-D5804069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0820400" cy="3848100"/>
          </a:xfrm>
          <a:prstGeom xmlns:a="http://schemas.openxmlformats.org/drawingml/2006/main" prst="roundRect">
            <a:avLst>
              <a:gd name="adj" fmla="val 29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F749D4-57B6-4378-82CA-18F78DA5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단계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585383-F26F-46A9-9974-A3EEE3F8D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8097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모듈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F494D0-BD23-488B-9A60-1D4E3FA2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8097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핵심 질문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B4FA81-E02C-407B-870D-D2724916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097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산출물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7C37C1-4BC5-453F-B803-44878446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29A0B6-166C-4BCE-B406-AC78A24E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33A07A-E83B-4CCD-9ABA-F4253E45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343150"/>
            <a:ext cx="152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80ED"/>
                </a:solidFill>
              </a:defRPr>
            </a:pPr>
            <a:r>
              <a:rPr sz="1125" b="1">
                <a:solidFill>
                  <a:srgbClr val="2F80ED"/>
                </a:solidFill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F5AA6F-501F-4409-896B-FED67941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2479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A"/>
                </a:solidFill>
              </a:defRPr>
            </a:pPr>
            <a:r>
              <a:rPr sz="1425" b="1">
                <a:solidFill>
                  <a:srgbClr val="0B1F3A"/>
                </a:solidFill>
              </a:rPr>
              <a:t>AI Native Literacy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2B26AC-1172-4AE7-8242-8353EA1B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2479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C6B7A"/>
                </a:solidFill>
              </a:defRPr>
            </a:pPr>
            <a:r>
              <a:rPr sz="1275" b="0">
                <a:solidFill>
                  <a:srgbClr val="5C6B7A"/>
                </a:solidFill>
              </a:rPr>
              <a:t>기존 AI 활용과 무엇이 다른가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624528-7A23-441F-A839-3AE31061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4790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</a:defRPr>
            </a:pPr>
            <a:r>
              <a:rPr sz="1275" b="0">
                <a:solidFill>
                  <a:srgbClr val="0B1F3A"/>
                </a:solidFill>
              </a:rPr>
              <a:t>공통 개념 / 업무 후보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490A8F-949D-4DF1-964B-55865853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C26103-31D6-4547-9184-EC865A55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867E06-402E-4EEF-9E2A-5573F719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952750"/>
            <a:ext cx="152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80ED"/>
                </a:solidFill>
              </a:defRPr>
            </a:pPr>
            <a:r>
              <a:rPr sz="1125" b="1">
                <a:solidFill>
                  <a:srgbClr val="2F80ED"/>
                </a:solidFill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FBD957-BF61-40D0-9AC1-25747974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8575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A"/>
                </a:solidFill>
              </a:defRPr>
            </a:pPr>
            <a:r>
              <a:rPr sz="1425" b="1">
                <a:solidFill>
                  <a:srgbClr val="0B1F3A"/>
                </a:solidFill>
              </a:rPr>
              <a:t>Work Discovery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2BB2CF-EC06-47B0-A127-1FDF359A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575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C6B7A"/>
                </a:solidFill>
              </a:defRPr>
            </a:pPr>
            <a:r>
              <a:rPr sz="1275" b="0">
                <a:solidFill>
                  <a:srgbClr val="5C6B7A"/>
                </a:solidFill>
              </a:rPr>
              <a:t>SV 업무 중 어디가 먼저 ROI가 나는가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5C78E6-1D1F-4BCD-AD5E-C213ADB3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5750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</a:defRPr>
            </a:pPr>
            <a:r>
              <a:rPr sz="1275" b="0">
                <a:solidFill>
                  <a:srgbClr val="0B1F3A"/>
                </a:solidFill>
              </a:rPr>
              <a:t>업무 인벤토리 / ROI 매트릭스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98CFA5-CCD6-4135-AFB3-0E3ABEC9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241F53-419A-4BD0-B45B-7636871B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05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48E862-D2D1-4D93-85F5-99C2B437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562350"/>
            <a:ext cx="152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61491E-424E-497C-BB6A-26D6ED9D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467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A"/>
                </a:solidFill>
              </a:defRPr>
            </a:pPr>
            <a:r>
              <a:rPr sz="1425" b="1">
                <a:solidFill>
                  <a:srgbClr val="0B1F3A"/>
                </a:solidFill>
              </a:rPr>
              <a:t>Domain Expert Bootcamp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59CA2A-CD92-4AEF-9CC2-D76CBEEE5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4671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C6B7A"/>
                </a:solidFill>
              </a:defRPr>
            </a:pPr>
            <a:r>
              <a:rPr sz="1275" b="0">
                <a:solidFill>
                  <a:srgbClr val="5C6B7A"/>
                </a:solidFill>
              </a:rPr>
              <a:t>내부 인력이 어떻게 AI와 함께 일할 것인가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1A25E4-8934-41A2-82BD-DA7469BE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6710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</a:defRPr>
            </a:pPr>
            <a:r>
              <a:rPr sz="1275" b="0">
                <a:solidFill>
                  <a:srgbClr val="0B1F3A"/>
                </a:solidFill>
              </a:rPr>
              <a:t>전문가 후보 / Context Pack v1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FE1D62-064D-4689-AA68-868494085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433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EB79A30-C532-4257-BFD5-99F29B01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F1BDEE-FA09-4D42-9A92-AB7749D7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171950"/>
            <a:ext cx="152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80ED"/>
                </a:solidFill>
              </a:defRPr>
            </a:pPr>
            <a:r>
              <a:rPr sz="1125" b="1">
                <a:solidFill>
                  <a:srgbClr val="2F80ED"/>
                </a:solidFill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23F1DF-2A0D-4BD8-B383-21AD5734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0767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A"/>
                </a:solidFill>
              </a:defRPr>
            </a:pPr>
            <a:r>
              <a:rPr sz="1425" b="1">
                <a:solidFill>
                  <a:srgbClr val="0B1F3A"/>
                </a:solidFill>
              </a:rPr>
              <a:t>PoC Build &amp; Validation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0717B7-C9C8-4AFD-80FA-E299A133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0767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C6B7A"/>
                </a:solidFill>
              </a:defRPr>
            </a:pPr>
            <a:r>
              <a:rPr sz="1275" b="0">
                <a:solidFill>
                  <a:srgbClr val="5C6B7A"/>
                </a:solidFill>
              </a:rPr>
              <a:t>실제 산출물이 업무에 쓸 만한가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5361F82-412A-417F-A49C-72893C45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7670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</a:defRPr>
            </a:pPr>
            <a:r>
              <a:rPr sz="1275" b="0">
                <a:solidFill>
                  <a:srgbClr val="0B1F3A"/>
                </a:solidFill>
              </a:rPr>
              <a:t>작동 PoC / 테스트 로그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8C6242-AC96-46D3-8BE8-0F36F564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29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31ADBB-4678-49E2-8DCA-77528733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24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B044CB7-D2C2-4030-A01D-82A50CCE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781550"/>
            <a:ext cx="152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80ED"/>
                </a:solidFill>
              </a:defRPr>
            </a:pPr>
            <a:r>
              <a:rPr sz="1125" b="1">
                <a:solidFill>
                  <a:srgbClr val="2F80ED"/>
                </a:solidFill>
              </a:rPr>
              <a:t>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035156E-98DE-4654-A993-C9E74B5EB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6863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A"/>
                </a:solidFill>
              </a:defRPr>
            </a:pPr>
            <a:r>
              <a:rPr sz="1425" b="1">
                <a:solidFill>
                  <a:srgbClr val="0B1F3A"/>
                </a:solidFill>
              </a:rPr>
              <a:t>AI Native Roadmap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66D493-3AB2-4645-AE1B-1C522C0D6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686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C6B7A"/>
                </a:solidFill>
              </a:defRPr>
            </a:pPr>
            <a:r>
              <a:rPr sz="1275" b="0">
                <a:solidFill>
                  <a:srgbClr val="5C6B7A"/>
                </a:solidFill>
              </a:rPr>
              <a:t>조직 확산은 어떻게 할 것인가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AE794E-987F-455C-A968-8CFFC8CA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68630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</a:defRPr>
            </a:pPr>
            <a:r>
              <a:rPr sz="1275" b="0">
                <a:solidFill>
                  <a:srgbClr val="0B1F3A"/>
                </a:solidFill>
              </a:rPr>
              <a:t>KPI 리포트 / 확장 로드맵</a:t>
            </a:r>
          </a:p>
        </p:txBody>
      </p:sp>
    </p:spTree>
    <p:extLst>
      <p:ext uri="{BB962C8B-B14F-4D97-AF65-F5344CB8AC3E}">
        <p14:creationId xmlns:p14="http://schemas.microsoft.com/office/powerpoint/2010/main" val="19460566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C5393F-B18A-4917-B808-92CB24AC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318AB3-7D0C-409B-BA47-273894138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내부 도메인 전문가를 남기는 프로그램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68D418-B4BA-4B3B-987C-2C0808FC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F1A10C-DEEA-4A4B-836A-A7FA58E8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C6645C-AC7C-42C2-9E09-41D9B362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F411EB-2E23-4F2B-A2D4-71E864DF5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BA9ACD-FCB5-4D34-B990-FAC858BF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17A1D6-1825-474D-A105-45BF95B28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2381250" cy="28765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4C74F7-A1F7-4ED7-95EF-8A305CF4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95500"/>
            <a:ext cx="176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Sponsor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CF0220-C424-4BCE-B5B2-FF81E8FE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432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1명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EFA19B-28FC-4A04-BFA8-A2B7C076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19450"/>
            <a:ext cx="171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본부장/파트너급</a:t>
            </a:r>
          </a:p>
          <a:p xmlns:a="http://schemas.openxmlformats.org/drawingml/2006/main">
            <a:pPr algn="l"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우선순위와 의사결정 지원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CDB798-03AF-4E49-AE40-96C158E2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809750"/>
            <a:ext cx="2381250" cy="28765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FDC6AD-DD4F-42AF-95EC-00412C3D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809750"/>
            <a:ext cx="762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F3D2AF-D901-40E0-9EDA-663898BD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95500"/>
            <a:ext cx="176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Domain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F8B8DC-E4C6-43EE-ABBF-8107AB479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432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2-3명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0DC336-E8A8-4243-BF6B-8CD7A933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219450"/>
            <a:ext cx="171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심사역/스텝</a:t>
            </a:r>
          </a:p>
          <a:p xmlns:a="http://schemas.openxmlformats.org/drawingml/2006/main">
            <a:pPr algn="l"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업무 정의와 산출물 리뷰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551AF8-2307-4162-A619-003526936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2381250" cy="28765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EAD5E4-7DA3-461E-9CB8-9028A8892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95500"/>
            <a:ext cx="176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Operation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Owner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320216-7351-4CD2-8BE1-CBAECAC9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432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1명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6110E5-200A-4F2A-90E4-A9BAF854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19450"/>
            <a:ext cx="171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자료 관리, 보안/권한,</a:t>
            </a:r>
          </a:p>
          <a:p xmlns:a="http://schemas.openxmlformats.org/drawingml/2006/main">
            <a:pPr algn="l"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회의체 운영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326DC9-8AAD-44A9-A46F-86D8FC60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809750"/>
            <a:ext cx="2381250" cy="28765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79845D-9027-4BE7-8A5F-FFC08356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95500"/>
            <a:ext cx="176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MagicEcole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Team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91E571-1356-44BE-9A82-9B2E3A25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7432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2-3명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406458-1681-43BC-8F1E-597D6F23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19450"/>
            <a:ext cx="1714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교육, 업무 분석,</a:t>
            </a:r>
          </a:p>
          <a:p xmlns:a="http://schemas.openxmlformats.org/drawingml/2006/main">
            <a:pPr algn="l">
              <a:defRPr sz="1350" b="0">
                <a:solidFill>
                  <a:srgbClr val="5C6B7A"/>
                </a:solidFill>
              </a:defRPr>
            </a:pPr>
            <a:r>
              <a:rPr sz="1350" b="0">
                <a:solidFill>
                  <a:srgbClr val="5C6B7A"/>
                </a:solidFill>
              </a:rPr>
              <a:t>하네스 설계, PoC 제작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CDC465-CC89-46EA-B688-16F9DA3F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43500"/>
            <a:ext cx="971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핵심 산출물은 도구 하나가 아니라, AI Native 방식으로 자기 업무를 정의하고 검증할 수 있는 내부 실행자입니다.</a:t>
            </a:r>
          </a:p>
        </p:txBody>
      </p:sp>
    </p:spTree>
    <p:extLst>
      <p:ext uri="{BB962C8B-B14F-4D97-AF65-F5344CB8AC3E}">
        <p14:creationId xmlns:p14="http://schemas.microsoft.com/office/powerpoint/2010/main" val="3162891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F85F47-F4E8-4C5E-979E-4747F3883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7C2C8C-4027-4B63-A861-DC457198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90일 후 내부에 남아야 할 역량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9913D4-E51A-45CE-A735-A0EB18E3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7751F4-572C-49A9-95A3-6BDCB7A6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9819A2-BE4D-4671-AA7E-074DB66A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CA0897-B170-45D3-BE1C-96668E58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E34E07-5574-47C1-BA13-FFA7F25FF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A5FFB6-D81B-47AD-AFA8-9057E6DD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38300"/>
            <a:ext cx="9715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24FC7A-BFC9-4725-94AC-34CCDA1A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7430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68841B-FA0E-4EEC-9A92-729D52D4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790700"/>
            <a:ext cx="1143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9AB816-ADB5-45EB-B9E3-E300765B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762125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AI 적용 가능 업무를 스스로 분류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0391F7-233B-487B-B51E-14AEFECD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62200"/>
            <a:ext cx="9715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41D29A-F28B-43DD-BDE6-79FF5A52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669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F41B59-9761-487D-B021-9DD5244F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514600"/>
            <a:ext cx="1143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E07877-353D-4313-85BB-5AA79C63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486025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PoC 후보를 ROI와 실행 난이도로 우선순위화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806A3A-D94E-47B6-8A7E-BDBF8CC1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86100"/>
            <a:ext cx="9715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F28A9D-FB2D-4BB9-89D2-FBFA7E6D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1908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CD3412-0C2E-4C8F-ACB9-2D21D9D9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238500"/>
            <a:ext cx="1143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763664-5F9B-4CCE-9F91-E5C6CCB1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209925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업무별 Context Pack 구성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5653E9-91BB-40F7-A8D9-D375F1DD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0000"/>
            <a:ext cx="9715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5C1812-C164-491D-9033-A4723246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147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6F71D7-4F74-4E60-9B41-45A240C5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962400"/>
            <a:ext cx="1143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8841FB-E41F-4C62-9B38-A222E03AD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933825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AI 산출물 검토와 개선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9747E0-B2E3-4A32-AAC0-D088E2EC7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33900"/>
            <a:ext cx="9715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2586D3-2ACD-44BA-8692-3376B9E3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6386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06A3F2-7783-4C39-A020-D2DBBFCE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686300"/>
            <a:ext cx="1143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F49223-7DD9-4485-B927-C93B9D30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657725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외부 파트너와 PoC 범위 정의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B781AF-73E5-49B6-8EA0-92A2A89B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435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E58C8"/>
                </a:solidFill>
              </a:defRPr>
            </a:pPr>
            <a:r>
              <a:rPr sz="1800" b="1">
                <a:solidFill>
                  <a:srgbClr val="0E58C8"/>
                </a:solidFill>
              </a:rPr>
              <a:t>이 역량이 남아야 이후 SV 내부 도입과 포트폴리오 확산이 반복 가능합니다.</a:t>
            </a:r>
          </a:p>
        </p:txBody>
      </p:sp>
    </p:spTree>
    <p:extLst>
      <p:ext uri="{BB962C8B-B14F-4D97-AF65-F5344CB8AC3E}">
        <p14:creationId xmlns:p14="http://schemas.microsoft.com/office/powerpoint/2010/main" val="1780704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6D73E8-AECD-41FD-A0FF-EAA65DBE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15C366-C215-47DE-9B63-519B24CB1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PoC는 프로그램 안에서 선택됩니다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DF38A5-7399-44FD-B471-9C7476D9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ED261E-1BBD-4F87-9788-504135123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778BD1-E413-4525-A37C-65BE61570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4B181F-4C86-428F-A891-6227C158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135715-183F-4CC4-804B-80D84ECF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FF7771-1F98-42F9-AD95-842353FD6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31813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FEB54F-DA24-41A0-A92A-0D1E46D2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762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44BA77-105E-4474-BB9F-EFF0379A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76450"/>
            <a:ext cx="2552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투자검토/IC Copilot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EA5216-FAF5-454F-B6B2-AA47AF1D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95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C6B7A"/>
                </a:solidFill>
              </a:defRPr>
            </a:pPr>
            <a:r>
              <a:rPr sz="1200" b="1">
                <a:solidFill>
                  <a:srgbClr val="5C6B7A"/>
                </a:solidFill>
              </a:rPr>
              <a:t>언제 선택하나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846BD5-9509-4E88-A3AF-C67817235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62300"/>
            <a:ext cx="2533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B7A"/>
                </a:solidFill>
              </a:defRPr>
            </a:pPr>
            <a:r>
              <a:rPr sz="1200" b="0">
                <a:solidFill>
                  <a:srgbClr val="5C6B7A"/>
                </a:solidFill>
              </a:rPr>
              <a:t>SV 내부 업무 효율과 품질 표준화가 우선일 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61D3DC-7221-492A-958E-D37CB568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433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C6B7A"/>
                </a:solidFill>
              </a:defRPr>
            </a:pPr>
            <a:r>
              <a:rPr sz="1200" b="1">
                <a:solidFill>
                  <a:srgbClr val="5C6B7A"/>
                </a:solidFill>
              </a:rPr>
              <a:t>90일 산출물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A17691-81E8-4150-AE57-16E92294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10050"/>
            <a:ext cx="2533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B1F3A"/>
                </a:solidFill>
              </a:defRPr>
            </a:pPr>
            <a:r>
              <a:rPr sz="1200" b="0">
                <a:solidFill>
                  <a:srgbClr val="0B1F3A"/>
                </a:solidFill>
              </a:rPr>
              <a:t>샘플 딜 3건 투자검토 패키지</a:t>
            </a:r>
          </a:p>
          <a:p xmlns:a="http://schemas.openxmlformats.org/drawingml/2006/main">
            <a:pPr algn="l">
              <a:defRPr sz="1200" b="0">
                <a:solidFill>
                  <a:srgbClr val="0B1F3A"/>
                </a:solidFill>
              </a:defRPr>
            </a:pPr>
            <a:r>
              <a:rPr sz="1200" b="0">
                <a:solidFill>
                  <a:srgbClr val="0B1F3A"/>
                </a:solidFill>
              </a:rPr>
              <a:t>IC 초안, 리스크 로그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E71A60-7E58-455C-8AD4-D469FA6A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790700"/>
            <a:ext cx="31813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F2C691-8EA5-4D43-9973-7CEE8721D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790700"/>
            <a:ext cx="762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A70CC7-632A-44E4-A00F-CD0C3AA8A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76450"/>
            <a:ext cx="2552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Portfolio Value-up Radar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A7B043-ADAB-4BD8-95EF-90A96FDB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895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C6B7A"/>
                </a:solidFill>
              </a:defRPr>
            </a:pPr>
            <a:r>
              <a:rPr sz="1200" b="1">
                <a:solidFill>
                  <a:srgbClr val="5C6B7A"/>
                </a:solidFill>
              </a:rPr>
              <a:t>언제 선택하나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89EABB-20FD-4F00-82BF-DF9E0199A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162300"/>
            <a:ext cx="2533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B7A"/>
                </a:solidFill>
              </a:defRPr>
            </a:pPr>
            <a:r>
              <a:rPr sz="1200" b="0">
                <a:solidFill>
                  <a:srgbClr val="5C6B7A"/>
                </a:solidFill>
              </a:rPr>
              <a:t>본부 차원의 포트폴리오 value-up 모델이 우선일 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46878A-846D-4127-82F0-117B27CF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9433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C6B7A"/>
                </a:solidFill>
              </a:defRPr>
            </a:pPr>
            <a:r>
              <a:rPr sz="1200" b="1">
                <a:solidFill>
                  <a:srgbClr val="5C6B7A"/>
                </a:solidFill>
              </a:rPr>
              <a:t>90일 산출물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10CE45-52A7-4239-9D60-07F780556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210050"/>
            <a:ext cx="2533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B1F3A"/>
                </a:solidFill>
              </a:defRPr>
            </a:pPr>
            <a:r>
              <a:rPr sz="1200" b="0">
                <a:solidFill>
                  <a:srgbClr val="0B1F3A"/>
                </a:solidFill>
              </a:rPr>
              <a:t>포트폴리오 10개사 scorecard</a:t>
            </a:r>
          </a:p>
          <a:p xmlns:a="http://schemas.openxmlformats.org/drawingml/2006/main">
            <a:pPr algn="l">
              <a:defRPr sz="1200" b="0">
                <a:solidFill>
                  <a:srgbClr val="0B1F3A"/>
                </a:solidFill>
              </a:defRPr>
            </a:pPr>
            <a:r>
              <a:rPr sz="1200" b="0">
                <a:solidFill>
                  <a:srgbClr val="0B1F3A"/>
                </a:solidFill>
              </a:rPr>
              <a:t>상위 3개 PoC 후보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2804A0-47B6-4942-89A0-D3CBECF8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90700"/>
            <a:ext cx="31813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168F7C-6CDE-460D-964C-534E79758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90700"/>
            <a:ext cx="762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2E879F-6DD6-4D0D-914F-ED39274E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076450"/>
            <a:ext cx="2552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Global BD &amp; Evidence Agent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183499-79F0-4922-91B7-4FC54F67C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895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C6B7A"/>
                </a:solidFill>
              </a:defRPr>
            </a:pPr>
            <a:r>
              <a:rPr sz="1200" b="1">
                <a:solidFill>
                  <a:srgbClr val="5C6B7A"/>
                </a:solidFill>
              </a:rPr>
              <a:t>언제 선택하나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163796-2B68-49F2-AE65-0146A4AD0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62300"/>
            <a:ext cx="2533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B7A"/>
                </a:solidFill>
              </a:defRPr>
            </a:pPr>
            <a:r>
              <a:rPr sz="1200" b="0">
                <a:solidFill>
                  <a:srgbClr val="5C6B7A"/>
                </a:solidFill>
              </a:rPr>
              <a:t>딥테크/바이오/글로벌 확장이 우선일 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59D3EF-D8D5-46D3-B61E-6196B986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433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C6B7A"/>
                </a:solidFill>
              </a:defRPr>
            </a:pPr>
            <a:r>
              <a:rPr sz="1200" b="1">
                <a:solidFill>
                  <a:srgbClr val="5C6B7A"/>
                </a:solidFill>
              </a:rPr>
              <a:t>90일 산출물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4A489A-EB63-4BC3-BE2B-062D1B6A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10050"/>
            <a:ext cx="2533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B1F3A"/>
                </a:solidFill>
              </a:defRPr>
            </a:pPr>
            <a:r>
              <a:rPr sz="1200" b="0">
                <a:solidFill>
                  <a:srgbClr val="0B1F3A"/>
                </a:solidFill>
              </a:rPr>
              <a:t>글로벌 파트너 롱리스트</a:t>
            </a:r>
          </a:p>
          <a:p xmlns:a="http://schemas.openxmlformats.org/drawingml/2006/main">
            <a:pPr algn="l">
              <a:defRPr sz="1200" b="0">
                <a:solidFill>
                  <a:srgbClr val="0B1F3A"/>
                </a:solidFill>
              </a:defRPr>
            </a:pPr>
            <a:r>
              <a:rPr sz="1200" b="0">
                <a:solidFill>
                  <a:srgbClr val="0B1F3A"/>
                </a:solidFill>
              </a:rPr>
              <a:t>상위 10개 접근 브리프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3D8D21-D495-4F00-BB6D-C6BF70C6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57800"/>
            <a:ext cx="971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1F3A"/>
                </a:solidFill>
              </a:defRPr>
            </a:pPr>
            <a:r>
              <a:rPr sz="1800" b="1">
                <a:solidFill>
                  <a:srgbClr val="0B1F3A"/>
                </a:solidFill>
              </a:rPr>
              <a:t>중요한 것은 지금 셋 중 하나를 찍는 것이 아니라, SV 안에서 ROI가 가장 큰 업무를 함께 찾는 것입니다.</a:t>
            </a:r>
          </a:p>
        </p:txBody>
      </p:sp>
    </p:spTree>
    <p:extLst>
      <p:ext uri="{BB962C8B-B14F-4D97-AF65-F5344CB8AC3E}">
        <p14:creationId xmlns:p14="http://schemas.microsoft.com/office/powerpoint/2010/main" val="6767432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E9B25D-B0DF-4294-98AF-7152E1E6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2BED70-11D7-48BE-89C2-BAA74309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SV 참여자별 명분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0A9A0E-8170-47E1-93E8-7A42849F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74178D-5896-47CF-9062-087F29DF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448F1-DED4-42E9-978E-6155A4B5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4CD3DB-444E-43C7-A1AE-23FDC23A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C38ACB-F9F3-4CB3-85A9-D73A524FD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5C6055-4630-48BA-BA1B-77C518B0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30480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AAE9BF-11E7-4119-BAF8-E51F4F71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43125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1F3A"/>
                </a:solidFill>
              </a:defRPr>
            </a:pPr>
            <a:r>
              <a:rPr sz="2100" b="1">
                <a:solidFill>
                  <a:srgbClr val="0B1F3A"/>
                </a:solidFill>
              </a:rPr>
              <a:t>심사역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CE476B-83D7-4F49-89BB-BE325AE3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09875"/>
            <a:ext cx="25336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C6B7A"/>
                </a:solidFill>
              </a:defRPr>
            </a:pPr>
            <a:r>
              <a:rPr sz="1425" b="0">
                <a:solidFill>
                  <a:srgbClr val="5C6B7A"/>
                </a:solidFill>
              </a:rPr>
              <a:t>내 업무를 AI 처리 가능 단위로 나누는 법을 배웁니다.</a:t>
            </a:r>
          </a:p>
          <a:p xmlns:a="http://schemas.openxmlformats.org/drawingml/2006/main">
            <a:pPr algn="l">
              <a:defRPr sz="1425" b="0">
                <a:solidFill>
                  <a:srgbClr val="5C6B7A"/>
                </a:solidFill>
              </a:defRPr>
            </a:pPr>
            <a:r>
              <a:rPr sz="1425" b="0">
                <a:solidFill>
                  <a:srgbClr val="5C6B7A"/>
                </a:solidFill>
              </a:rPr>
              <a:t>시장조사, 질문 리스트, IC 메모에서 체감합니다.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EE2123-D204-4293-98A5-F57E073F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30480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2BF47C-DB9D-425D-A892-35DD8697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43125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1F3A"/>
                </a:solidFill>
              </a:defRPr>
            </a:pPr>
            <a:r>
              <a:rPr sz="2100" b="1">
                <a:solidFill>
                  <a:srgbClr val="0B1F3A"/>
                </a:solidFill>
              </a:rPr>
              <a:t>스텝조직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6EE730-7D69-4678-AE7A-CFFE1E1C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09875"/>
            <a:ext cx="25336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C6B7A"/>
                </a:solidFill>
              </a:defRPr>
            </a:pPr>
            <a:r>
              <a:rPr sz="1425" b="0">
                <a:solidFill>
                  <a:srgbClr val="5C6B7A"/>
                </a:solidFill>
              </a:rPr>
              <a:t>자료 취합, 보고, 회의체 운영을 구조화합니다.</a:t>
            </a:r>
          </a:p>
          <a:p xmlns:a="http://schemas.openxmlformats.org/drawingml/2006/main">
            <a:pPr algn="l">
              <a:defRPr sz="1425" b="0">
                <a:solidFill>
                  <a:srgbClr val="5C6B7A"/>
                </a:solidFill>
              </a:defRPr>
            </a:pPr>
            <a:r>
              <a:rPr sz="1425" b="0">
                <a:solidFill>
                  <a:srgbClr val="5C6B7A"/>
                </a:solidFill>
              </a:rPr>
              <a:t>보안, 템플릿, 로그 관리의 내부 오너가 됩니다.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FFFE75-C0E0-49B8-ACD4-A7387FB1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09750"/>
            <a:ext cx="30480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C394D6-940A-4471-A95F-60B64089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43125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본부장/파트너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BAE421-ACF8-47AC-9BB6-909F8B47E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809875"/>
            <a:ext cx="25336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일회성 교육이 아니라 내부 인력과 PoC 산출물이 남습니다.</a:t>
            </a:r>
          </a:p>
          <a:p xmlns:a="http://schemas.openxmlformats.org/drawingml/2006/main">
            <a:pPr algn="l"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SV 내부 개선과 포트폴리오 확산을 함께 검증합니다.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A179DB-ED41-4D99-B924-D38E9D83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95875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E58C8"/>
                </a:solidFill>
              </a:defRPr>
            </a:pPr>
            <a:r>
              <a:rPr sz="1875" b="1">
                <a:solidFill>
                  <a:srgbClr val="0E58C8"/>
                </a:solidFill>
              </a:rPr>
              <a:t>각 참여자에게 역할과 효익이 보여야 실제 프로젝트로 전환됩니다.</a:t>
            </a:r>
          </a:p>
        </p:txBody>
      </p:sp>
    </p:spTree>
    <p:extLst>
      <p:ext uri="{BB962C8B-B14F-4D97-AF65-F5344CB8AC3E}">
        <p14:creationId xmlns:p14="http://schemas.microsoft.com/office/powerpoint/2010/main" val="18699977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0115FA-985F-4848-A727-46BC6C99F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80ED"/>
                </a:solidFill>
              </a:defRPr>
            </a:pPr>
            <a:r>
              <a:rPr sz="1050" b="1">
                <a:solidFill>
                  <a:srgbClr val="2F80ED"/>
                </a:solidFill>
              </a:rPr>
              <a:t>SV AI Native VC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225B48-C0E1-4EE1-9C9F-307CA943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오늘 요청드리는 결정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5692FC-2E9F-4B12-B896-91F465837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4925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90D49B-F8D5-4D79-9214-28801677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0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F80ED"/>
                </a:solidFill>
              </a:defRPr>
            </a:pPr>
            <a:r>
              <a:rPr sz="1350" b="1">
                <a:solidFill>
                  <a:srgbClr val="2F80ED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569A3D-5600-4548-93E3-1310E944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362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B1F3A"/>
                </a:solidFill>
              </a:defRPr>
            </a:pPr>
            <a:r>
              <a:rPr sz="1200" b="1">
                <a:solidFill>
                  <a:srgbClr val="0B1F3A"/>
                </a:solidFill>
              </a:rPr>
              <a:t>magicecole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5B5E92-2A3C-4849-B4D9-0E8D392C7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ED82DF-D030-48E5-BF18-91AA97DA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C6B7A"/>
                </a:solidFill>
              </a:defRPr>
            </a:pPr>
            <a:r>
              <a:rPr sz="975" b="0">
                <a:solidFill>
                  <a:srgbClr val="5C6B7A"/>
                </a:solidFill>
              </a:rPr>
              <a:t>90일 AI Native 실행 프로그램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E778D-29DB-40CB-ABD5-732867259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619250"/>
            <a:ext cx="9429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D3598C-E9FF-4A6D-9C95-27F140FB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7430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80ED"/>
                </a:solidFill>
              </a:defRPr>
            </a:pPr>
            <a:r>
              <a:rPr sz="1500" b="1">
                <a:solidFill>
                  <a:srgbClr val="2F80ED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B4554B-A322-4415-B87C-BABC4556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762125"/>
            <a:ext cx="800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90일 AI Native 실행 프로그램을 검토할 것인가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A8CD51-FE1A-40FC-AED0-E8026A2B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381250"/>
            <a:ext cx="9429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8A25ED-E88B-4901-8443-C2B64653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050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80ED"/>
                </a:solidFill>
              </a:defRPr>
            </a:pPr>
            <a:r>
              <a:rPr sz="1500" b="1">
                <a:solidFill>
                  <a:srgbClr val="2F80ED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7A2F82-BCBA-40FC-AC7B-DE96F875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524125"/>
            <a:ext cx="800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SV 내부 참여자 3-5명을 정할 수 있는가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AAE30C-767E-491C-A7DB-0A60A865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143250"/>
            <a:ext cx="9429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5A975D-D765-4731-8A9D-53156251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670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80ED"/>
                </a:solidFill>
              </a:defRPr>
            </a:pPr>
            <a:r>
              <a:rPr sz="1500" b="1">
                <a:solidFill>
                  <a:srgbClr val="2F80ED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66D90F-DCAB-421C-9584-BF0A0624F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286125"/>
            <a:ext cx="800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샘플 업무/자료 범위를 정할 수 있는가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08E2A0-1352-473F-B673-378F8ADE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05250"/>
            <a:ext cx="9429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0B71C8-6582-4B54-A5B8-2C8FEE19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0290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80ED"/>
                </a:solidFill>
              </a:defRPr>
            </a:pPr>
            <a:r>
              <a:rPr sz="1500" b="1">
                <a:solidFill>
                  <a:srgbClr val="2F80ED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8D63A8-D6C5-4F65-8D10-0C2C15444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48125"/>
            <a:ext cx="800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F3A"/>
                </a:solidFill>
              </a:defRPr>
            </a:pPr>
            <a:r>
              <a:rPr sz="1725" b="1">
                <a:solidFill>
                  <a:srgbClr val="0B1F3A"/>
                </a:solidFill>
              </a:rPr>
              <a:t>30분 후속 미팅에서 첫 진단 범위를 잡을 것인가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4D1C57-5B6E-43CD-9438-CFF1A2ACF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095875"/>
            <a:ext cx="80010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A966F5-AEC9-4A9B-A067-B281C1B66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257800"/>
            <a:ext cx="752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PoC 계약이 아니라, 90일 실행 프로그램을 검토할 30분 후속 미팅입니다.</a:t>
            </a:r>
          </a:p>
        </p:txBody>
      </p:sp>
    </p:spTree>
    <p:extLst>
      <p:ext uri="{BB962C8B-B14F-4D97-AF65-F5344CB8AC3E}">
        <p14:creationId xmlns:p14="http://schemas.microsoft.com/office/powerpoint/2010/main" val="2659290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E58C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7FE0FE-E6F4-403E-A2EB-72BD0717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C400"/>
                </a:solidFill>
              </a:defRPr>
            </a:pPr>
            <a:r>
              <a:rPr sz="1500" b="1">
                <a:solidFill>
                  <a:srgbClr val="FFC400"/>
                </a:solidFill>
              </a:rPr>
              <a:t>마무리 메시지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0F3620-214A-4441-B4B3-CA35A054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38250"/>
            <a:ext cx="5715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중요한 것은 지금</a:t>
            </a:r>
          </a:p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세 가지 중 하나를</a:t>
            </a:r>
          </a:p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찍는 것이 아닙니다.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FF251E-52F2-4F1E-99F2-3A736957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2762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0760E7-0DA5-49CE-95B4-E23FF6C4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7905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SV 안에서 가장 ROI가 큰 업무를 찾고,</a:t>
            </a:r>
          </a:p>
          <a:p xmlns:a="http://schemas.openxmlformats.org/drawingml/2006/main">
            <a:pPr algn="l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내부 인력과 함께 검증 가능한 산출물을 만드는 것입니다.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56D0A9-4666-4026-9D2C-97D09CB2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05375"/>
            <a:ext cx="78105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16DBEA-84A2-4C56-9A5E-A8B4FD62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05400"/>
            <a:ext cx="733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다음 단계: SV 내부 참여 후보 3-5명과 첫 진단 업무를 정하는 30분 미팅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935CD2-A862-4605-B99C-CE7A0E2E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953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magicecole</a:t>
            </a:r>
          </a:p>
        </p:txBody>
      </p:sp>
    </p:spTree>
    <p:extLst>
      <p:ext uri="{BB962C8B-B14F-4D97-AF65-F5344CB8AC3E}">
        <p14:creationId xmlns:p14="http://schemas.microsoft.com/office/powerpoint/2010/main" val="6240505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2026-06-22T02:46:14.7510000Z</dcterms:created>
  <dcterms:modified xsi:type="dcterms:W3CDTF">2026-06-22T02:46:14.7510000Z</dcterms:modified>
</coreProperties>
</file>