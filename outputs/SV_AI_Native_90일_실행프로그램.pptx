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854854868944e7" /><Relationship Type="http://schemas.openxmlformats.org/officeDocument/2006/relationships/extended-properties" Target="/docProps/app.xml" Id="Rebb74e602dcf44fc" /><Relationship Type="http://schemas.openxmlformats.org/officeDocument/2006/relationships/officeDocument" Target="/ppt/presentation.xml" Id="R85e6cba22c6142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319219046f4e35"/>
  </p:sldMasterIdLst>
  <p:notesMasterIdLst>
    <p:notesMasterId xmlns:r="http://schemas.openxmlformats.org/officeDocument/2006/relationships" r:id="R85889b624be34875"/>
  </p:notesMasterIdLst>
  <p:sldIdLst>
    <p:sldId xmlns:r="http://schemas.openxmlformats.org/officeDocument/2006/relationships" id="256" r:id="R9a929c2d49c448d0"/>
    <p:sldId xmlns:r="http://schemas.openxmlformats.org/officeDocument/2006/relationships" id="257" r:id="Rabe27e1ea75e49a2"/>
    <p:sldId xmlns:r="http://schemas.openxmlformats.org/officeDocument/2006/relationships" id="258" r:id="R37964f7ae04a45c3"/>
    <p:sldId xmlns:r="http://schemas.openxmlformats.org/officeDocument/2006/relationships" id="259" r:id="R9c965f1934f54fe5"/>
    <p:sldId xmlns:r="http://schemas.openxmlformats.org/officeDocument/2006/relationships" id="260" r:id="R3ad3b5486a954ef5"/>
    <p:sldId xmlns:r="http://schemas.openxmlformats.org/officeDocument/2006/relationships" id="261" r:id="R464bc3f157e44183"/>
    <p:sldId xmlns:r="http://schemas.openxmlformats.org/officeDocument/2006/relationships" id="262" r:id="R1c4084b2fce146d0"/>
    <p:sldId xmlns:r="http://schemas.openxmlformats.org/officeDocument/2006/relationships" id="263" r:id="Rff2c8205ad374a44"/>
    <p:sldId xmlns:r="http://schemas.openxmlformats.org/officeDocument/2006/relationships" id="264" r:id="R38134ec141254368"/>
    <p:sldId xmlns:r="http://schemas.openxmlformats.org/officeDocument/2006/relationships" id="265" r:id="Rb30aaba8647a48b2"/>
    <p:sldId xmlns:r="http://schemas.openxmlformats.org/officeDocument/2006/relationships" id="266" r:id="R0077cd6f21f1461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b1db5d0673451c" /><Relationship Type="http://schemas.openxmlformats.org/officeDocument/2006/relationships/slideMaster" Target="/ppt/slideMasters/slideMaster1.xml" Id="R3c319219046f4e35" /><Relationship Type="http://schemas.openxmlformats.org/officeDocument/2006/relationships/notesMaster" Target="/ppt/notesMasters/notesMaster1.xml" Id="R85889b624be34875" /><Relationship Type="http://schemas.openxmlformats.org/officeDocument/2006/relationships/presProps" Target="/ppt/presProps.xml" Id="R6738c167025443b1" /><Relationship Type="http://schemas.openxmlformats.org/officeDocument/2006/relationships/tableStyles" Target="/ppt/tableStyles.xml" Id="R82375b1b319348df" /><Relationship Type="http://schemas.openxmlformats.org/officeDocument/2006/relationships/slide" Target="/ppt/slides/slide1.xml" Id="R9a929c2d49c448d0" /><Relationship Type="http://schemas.openxmlformats.org/officeDocument/2006/relationships/slide" Target="/ppt/slides/slide2.xml" Id="Rabe27e1ea75e49a2" /><Relationship Type="http://schemas.openxmlformats.org/officeDocument/2006/relationships/slide" Target="/ppt/slides/slide3.xml" Id="R37964f7ae04a45c3" /><Relationship Type="http://schemas.openxmlformats.org/officeDocument/2006/relationships/slide" Target="/ppt/slides/slide4.xml" Id="R9c965f1934f54fe5" /><Relationship Type="http://schemas.openxmlformats.org/officeDocument/2006/relationships/slide" Target="/ppt/slides/slide5.xml" Id="R3ad3b5486a954ef5" /><Relationship Type="http://schemas.openxmlformats.org/officeDocument/2006/relationships/slide" Target="/ppt/slides/slide6.xml" Id="R464bc3f157e44183" /><Relationship Type="http://schemas.openxmlformats.org/officeDocument/2006/relationships/slide" Target="/ppt/slides/slide7.xml" Id="R1c4084b2fce146d0" /><Relationship Type="http://schemas.openxmlformats.org/officeDocument/2006/relationships/slide" Target="/ppt/slides/slide8.xml" Id="Rff2c8205ad374a44" /><Relationship Type="http://schemas.openxmlformats.org/officeDocument/2006/relationships/slide" Target="/ppt/slides/slide9.xml" Id="R38134ec141254368" /><Relationship Type="http://schemas.openxmlformats.org/officeDocument/2006/relationships/slide" Target="/ppt/slides/slide10.xml" Id="Rb30aaba8647a48b2" /><Relationship Type="http://schemas.openxmlformats.org/officeDocument/2006/relationships/slide" Target="/ppt/slides/slide11.xml" Id="R0077cd6f21f146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23717aca9847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8f3e91fb594470" /><Relationship Type="http://schemas.openxmlformats.org/officeDocument/2006/relationships/notesMaster" Target="/ppt/notesMasters/notesMaster1.xml" Id="R8dd6c0b9cc1241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8fdc16ee8b4b9d" /><Relationship Type="http://schemas.openxmlformats.org/officeDocument/2006/relationships/notesMaster" Target="/ppt/notesMasters/notesMaster1.xml" Id="R167dd67233b44a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68d84958bf4273" /><Relationship Type="http://schemas.openxmlformats.org/officeDocument/2006/relationships/notesMaster" Target="/ppt/notesMasters/notesMaster1.xml" Id="R0ce021284bbc47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e3f8f0cfea4f76" /><Relationship Type="http://schemas.openxmlformats.org/officeDocument/2006/relationships/notesMaster" Target="/ppt/notesMasters/notesMaster1.xml" Id="Re6f6285196f743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dcc11e80cd43d7" /><Relationship Type="http://schemas.openxmlformats.org/officeDocument/2006/relationships/notesMaster" Target="/ppt/notesMasters/notesMaster1.xml" Id="R6bb61cb03fa24c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3c62cb664c41a5" /><Relationship Type="http://schemas.openxmlformats.org/officeDocument/2006/relationships/notesMaster" Target="/ppt/notesMasters/notesMaster1.xml" Id="Re9bb2a6cfc5a43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832639badc41f4" /><Relationship Type="http://schemas.openxmlformats.org/officeDocument/2006/relationships/notesMaster" Target="/ppt/notesMasters/notesMaster1.xml" Id="R308d2b591ea14a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4eb7ef46c34a33" /><Relationship Type="http://schemas.openxmlformats.org/officeDocument/2006/relationships/notesMaster" Target="/ppt/notesMasters/notesMaster1.xml" Id="R09739f3db1374d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c8f07e49b4462f" /><Relationship Type="http://schemas.openxmlformats.org/officeDocument/2006/relationships/notesMaster" Target="/ppt/notesMasters/notesMaster1.xml" Id="Rce2f006be9cd47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cdf490862547c9" /><Relationship Type="http://schemas.openxmlformats.org/officeDocument/2006/relationships/notesMaster" Target="/ppt/notesMasters/notesMaster1.xml" Id="Raad095ec6d774b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328120138341fa" /><Relationship Type="http://schemas.openxmlformats.org/officeDocument/2006/relationships/notesMaster" Target="/ppt/notesMasters/notesMaster1.xml" Id="R2f8ae8b319404b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a2b510f02240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06f91d89a54af7" /><Relationship Type="http://schemas.openxmlformats.org/officeDocument/2006/relationships/slideLayout" Target="/ppt/slideLayouts/slideLayout1.xml" Id="R4438837b607b42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38837b607b42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d330c59964fdd" /><Relationship Type="http://schemas.openxmlformats.org/officeDocument/2006/relationships/notesSlide" Target="/ppt/notesSlides/notesSlide1.xml" Id="Rcf8fa8569cc742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4ab79f6834562" /><Relationship Type="http://schemas.openxmlformats.org/officeDocument/2006/relationships/notesSlide" Target="/ppt/notesSlides/notesSlide2.xml" Id="R11f034acbb5d44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d1ff9bbac480f" /><Relationship Type="http://schemas.openxmlformats.org/officeDocument/2006/relationships/notesSlide" Target="/ppt/notesSlides/notesSlide3.xml" Id="R3f319cf4c7984b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c73bdab1b4948" /><Relationship Type="http://schemas.openxmlformats.org/officeDocument/2006/relationships/notesSlide" Target="/ppt/notesSlides/notesSlide4.xml" Id="R6fa151ea23a04c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8e046afb1478d" /><Relationship Type="http://schemas.openxmlformats.org/officeDocument/2006/relationships/notesSlide" Target="/ppt/notesSlides/notesSlide5.xml" Id="R376575f8cf2f4b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0e838970c4815" /><Relationship Type="http://schemas.openxmlformats.org/officeDocument/2006/relationships/notesSlide" Target="/ppt/notesSlides/notesSlide6.xml" Id="Rd81af3abfaa946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afcf049bc469c" /><Relationship Type="http://schemas.openxmlformats.org/officeDocument/2006/relationships/notesSlide" Target="/ppt/notesSlides/notesSlide7.xml" Id="Rc1b36f20a4434c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8e19ce6e84378" /><Relationship Type="http://schemas.openxmlformats.org/officeDocument/2006/relationships/notesSlide" Target="/ppt/notesSlides/notesSlide8.xml" Id="R5133de0757f840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bd2c2d15a4815" /><Relationship Type="http://schemas.openxmlformats.org/officeDocument/2006/relationships/notesSlide" Target="/ppt/notesSlides/notesSlide9.xml" Id="Rbb28d55ecff941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1b13982db4562" /><Relationship Type="http://schemas.openxmlformats.org/officeDocument/2006/relationships/notesSlide" Target="/ppt/notesSlides/notesSlide10.xml" Id="R00beddc0e3b147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058a5d7b34b87" /><Relationship Type="http://schemas.openxmlformats.org/officeDocument/2006/relationships/notesSlide" Target="/ppt/notesSlides/notesSlide11.xml" Id="R7f40fc32d64a44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D96602-F5E1-4EF6-9AC1-98C50C3F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00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E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C7C1B-11B4-4DD5-BC8E-C2958928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-1714500"/>
            <a:ext cx="4000500" cy="4000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BF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2DC1D-1DD5-4E35-830F-702754D7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SV AI Native VC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CEFBD-2D69-432F-81EE-189E663B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723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B1F3A"/>
                </a:solidFill>
              </a:defRPr>
            </a:pPr>
            <a:r>
              <a:rPr sz="4350" b="1">
                <a:solidFill>
                  <a:srgbClr val="0B1F3A"/>
                </a:solidFill>
              </a:rPr>
              <a:t>90일 AI Native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0B1F3A"/>
                </a:solidFill>
              </a:defRPr>
            </a:pPr>
            <a:r>
              <a:rPr sz="4350" b="1">
                <a:solidFill>
                  <a:srgbClr val="0B1F3A"/>
                </a:solidFill>
              </a:rPr>
              <a:t>실행 프로그램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D5053-7035-4E45-81E7-030CF5D1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F75133-ED0B-4FB9-B2E1-B0EA8E66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E58C8"/>
                </a:solidFill>
              </a:defRPr>
            </a:pPr>
            <a:r>
              <a:rPr sz="2100" b="1">
                <a:solidFill>
                  <a:srgbClr val="0E58C8"/>
                </a:solidFill>
              </a:rPr>
              <a:t>교육 + 업무 발굴 + 내부 도메인 전문가 + PoC 산출물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BEC82F-4068-4459-8BB4-5D34DF29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C6B7A"/>
                </a:solidFill>
              </a:defRPr>
            </a:pPr>
            <a:r>
              <a:rPr sz="1650" b="0">
                <a:solidFill>
                  <a:srgbClr val="5C6B7A"/>
                </a:solidFill>
              </a:rPr>
              <a:t>단순 PoC 제안이 아니라, SV 내부 실행 역량과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C6B7A"/>
                </a:solidFill>
              </a:defRPr>
            </a:pPr>
            <a:r>
              <a:rPr sz="1650" b="0">
                <a:solidFill>
                  <a:srgbClr val="5C6B7A"/>
                </a:solidFill>
              </a:rPr>
              <a:t>검증 가능한 산출물을 함께 만드는 전환 프로그램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743B5-EFF6-4DCA-9E49-9176B200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953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magicecole</a:t>
            </a:r>
          </a:p>
        </p:txBody>
      </p:sp>
    </p:spTree>
    <p:extLst>
      <p:ext uri="{BB962C8B-B14F-4D97-AF65-F5344CB8AC3E}">
        <p14:creationId xmlns:p14="http://schemas.microsoft.com/office/powerpoint/2010/main" val="17768484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CD7B0A-82BA-4619-95EF-3A8B8ACB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SV AI Native VC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08849-01F1-492F-B86E-86B22F0C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후속 제안의 핵심은 PoC 3개가 아닙니다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7CA06-D232-4CE7-867F-E9AE0892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D6737-48B1-4D4C-9944-78A8D422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AEC51-0172-4E98-AF3C-DAAD6C03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3627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magicecole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CEB3D-06A7-4AAC-B35E-7C9AE84C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439F3-BD0C-44F0-94FF-E6481A09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C6B7A"/>
                </a:solidFill>
              </a:defRPr>
            </a:pPr>
            <a:r>
              <a:rPr sz="975" b="0">
                <a:solidFill>
                  <a:srgbClr val="5C6B7A"/>
                </a:solidFill>
              </a:rPr>
              <a:t>90일 AI Native 실행 프로그램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A74EC-DFF6-4D08-8445-F68C0D4B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4953000" cy="300990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A8835-0606-416C-ACC8-BDDD5A6E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762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6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A8B8C-E439-4597-991A-FA4AB207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4310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단편 제안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CE6A5-B84A-482A-A544-B9B88435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44958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C6B7A"/>
                </a:solidFill>
              </a:defRPr>
            </a:pPr>
            <a:r>
              <a:rPr sz="1575" b="0">
                <a:solidFill>
                  <a:srgbClr val="5C6B7A"/>
                </a:solidFill>
              </a:rPr>
              <a:t>• IC Copilot 단품 제안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C6B7A"/>
                </a:solidFill>
              </a:defRPr>
            </a:pPr>
            <a:r>
              <a:rPr sz="1575" b="0">
                <a:solidFill>
                  <a:srgbClr val="5C6B7A"/>
                </a:solidFill>
              </a:rPr>
              <a:t>• Portfolio Radar 단품 제안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C6B7A"/>
                </a:solidFill>
              </a:defRPr>
            </a:pPr>
            <a:r>
              <a:rPr sz="1575" b="0">
                <a:solidFill>
                  <a:srgbClr val="5C6B7A"/>
                </a:solidFill>
              </a:rPr>
              <a:t>• Global BD Agent 단품 제안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5C6B7A"/>
                </a:solidFill>
              </a:defRPr>
            </a:pPr>
            <a:r>
              <a:rPr sz="1575" b="0">
                <a:solidFill>
                  <a:srgbClr val="5C6B7A"/>
                </a:solidFill>
              </a:rPr>
              <a:t>예상 질문: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C6B7A"/>
                </a:solidFill>
              </a:defRPr>
            </a:pPr>
            <a:r>
              <a:rPr sz="1575" b="0">
                <a:solidFill>
                  <a:srgbClr val="5C6B7A"/>
                </a:solidFill>
              </a:rPr>
              <a:t>“외주 구축 제안인가?”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C6B7A"/>
                </a:solidFill>
              </a:defRPr>
            </a:pPr>
            <a:r>
              <a:rPr sz="1575" b="0">
                <a:solidFill>
                  <a:srgbClr val="5C6B7A"/>
                </a:solidFill>
              </a:rPr>
              <a:t>“왜 지금 해야 하지?”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C6B7A"/>
                </a:solidFill>
              </a:defRPr>
            </a:pPr>
            <a:r>
              <a:rPr sz="1575" b="0">
                <a:solidFill>
                  <a:srgbClr val="5C6B7A"/>
                </a:solidFill>
              </a:rPr>
              <a:t>“누가 운영하지?”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5D9AB-77A7-48C2-AD83-11FCF69D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4953000" cy="300990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552707-31AC-410E-BD02-5B7DF6DF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762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A8769-6ABF-4AF0-BE58-9BF39D1B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4310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실행 제안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9DB0B8-F8C0-47AC-8F15-A5A50D8D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62200"/>
            <a:ext cx="44958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C6B7A"/>
                </a:solidFill>
              </a:defRPr>
            </a:pPr>
            <a:r>
              <a:rPr sz="1575" b="0">
                <a:solidFill>
                  <a:srgbClr val="5C6B7A"/>
                </a:solidFill>
              </a:rPr>
              <a:t>• 교육으로 공통 언어 형성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C6B7A"/>
                </a:solidFill>
              </a:defRPr>
            </a:pPr>
            <a:r>
              <a:rPr sz="1575" b="0">
                <a:solidFill>
                  <a:srgbClr val="5C6B7A"/>
                </a:solidFill>
              </a:rPr>
              <a:t>• 업무 발굴로 우선순위 도출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C6B7A"/>
                </a:solidFill>
              </a:defRPr>
            </a:pPr>
            <a:r>
              <a:rPr sz="1575" b="0">
                <a:solidFill>
                  <a:srgbClr val="5C6B7A"/>
                </a:solidFill>
              </a:rPr>
              <a:t>• 내부 도메인 전문가 양성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C6B7A"/>
                </a:solidFill>
              </a:defRPr>
            </a:pPr>
            <a:r>
              <a:rPr sz="1575" b="0">
                <a:solidFill>
                  <a:srgbClr val="5C6B7A"/>
                </a:solidFill>
              </a:rPr>
              <a:t>• 90일 안에 검증 산출물 확보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C6B7A"/>
                </a:solidFill>
              </a:defRPr>
            </a:pPr>
            <a:r>
              <a:rPr sz="1575" b="0">
                <a:solidFill>
                  <a:srgbClr val="5C6B7A"/>
                </a:solidFill>
              </a:rPr>
              <a:t>• 조직 맞춤 확산 로드맵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46DC15-3D54-413E-B65B-4C4C99D9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19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핵심은 시스템 납품이 아니라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내부 실행 역량과 검증 산출물을 같이 만드는 것입니다.</a:t>
            </a:r>
          </a:p>
        </p:txBody>
      </p:sp>
    </p:spTree>
    <p:extLst>
      <p:ext uri="{BB962C8B-B14F-4D97-AF65-F5344CB8AC3E}">
        <p14:creationId xmlns:p14="http://schemas.microsoft.com/office/powerpoint/2010/main" val="7578526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779AE6-42E7-468B-A7AB-18920A7F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SV AI Native VC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0DC8A-61B3-49F7-BB49-EB146D80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왜 많은 조직이 AI 도입에서 멈추는가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FC873-962C-4A14-9352-3D8615D6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0849A-E6C4-4D79-BB8F-10502145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5A6AE-CB5B-40D8-B2BA-3FB78E10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3627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magicecole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E9735-7C9E-43F4-A7EB-D6656DF9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003A5-529E-491B-A5F4-0F0CB553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C6B7A"/>
                </a:solidFill>
              </a:defRPr>
            </a:pPr>
            <a:r>
              <a:rPr sz="975" b="0">
                <a:solidFill>
                  <a:srgbClr val="5C6B7A"/>
                </a:solidFill>
              </a:rPr>
              <a:t>90일 AI Native 실행 프로그램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AB573-02D0-4E98-8B28-D093A392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3028950" cy="2524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1E5F65-0991-4695-938E-2E2E47CD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95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76FFF8-BEC4-4DEE-A4FC-12F0BA0F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479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2F80ED"/>
                </a:solidFill>
              </a:defRPr>
            </a:pPr>
            <a:r>
              <a:rPr sz="1950" b="1">
                <a:solidFill>
                  <a:srgbClr val="2F80ED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7B1D10-2CAF-4822-881D-85EC2A92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A"/>
                </a:solidFill>
              </a:defRPr>
            </a:pPr>
            <a:r>
              <a:rPr sz="2250" b="1">
                <a:solidFill>
                  <a:srgbClr val="0B1F3A"/>
                </a:solidFill>
              </a:rPr>
              <a:t>어디부터?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F1727-414C-44DE-8B42-55D8B6B7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B7A"/>
                </a:solidFill>
              </a:defRPr>
            </a:pPr>
            <a:r>
              <a:rPr sz="1425" b="0">
                <a:solidFill>
                  <a:srgbClr val="5C6B7A"/>
                </a:solidFill>
              </a:rPr>
              <a:t>우리 업무 중 AI를 어디에 붙여야 하는지 모릅니다.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E4B3C8-6D00-4247-97CD-BD672E6A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09750"/>
            <a:ext cx="3028950" cy="2524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5689C3-EE7A-49E7-90AB-153E4652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95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EF05D-C9B4-4424-AB97-9236298F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2479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2F80ED"/>
                </a:solidFill>
              </a:defRPr>
            </a:pPr>
            <a:r>
              <a:rPr sz="1950" b="1">
                <a:solidFill>
                  <a:srgbClr val="2F80ED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DBC29F-A54A-4ECA-9C9D-369689B1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289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A"/>
                </a:solidFill>
              </a:defRPr>
            </a:pPr>
            <a:r>
              <a:rPr sz="2250" b="1">
                <a:solidFill>
                  <a:srgbClr val="0B1F3A"/>
                </a:solidFill>
              </a:rPr>
              <a:t>어디까지?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FAA829-C934-40A8-9962-7C418634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43300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B7A"/>
                </a:solidFill>
              </a:defRPr>
            </a:pPr>
            <a:r>
              <a:rPr sz="1425" b="0">
                <a:solidFill>
                  <a:srgbClr val="5C6B7A"/>
                </a:solidFill>
              </a:rPr>
              <a:t>현재 내부 역량으로 어디까지 가능한지 판단하기 어렵습니다.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557139-639D-4F3F-A75B-DE697983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3028950" cy="2524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9FBECD-6CD2-4DF9-889F-2C774AD3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95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11228C-707F-4B2B-999E-DAA3C675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2479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2F80ED"/>
                </a:solidFill>
              </a:defRPr>
            </a:pPr>
            <a:r>
              <a:rPr sz="1950" b="1">
                <a:solidFill>
                  <a:srgbClr val="2F80ED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8CDE40-915D-4BD6-BF88-F076D444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A"/>
                </a:solidFill>
              </a:defRPr>
            </a:pPr>
            <a:r>
              <a:rPr sz="2250" b="1">
                <a:solidFill>
                  <a:srgbClr val="0B1F3A"/>
                </a:solidFill>
              </a:rPr>
              <a:t>누가?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07AA9F-BB51-4EC4-B546-D073D2E9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B7A"/>
                </a:solidFill>
              </a:defRPr>
            </a:pPr>
            <a:r>
              <a:rPr sz="1425" b="0">
                <a:solidFill>
                  <a:srgbClr val="5C6B7A"/>
                </a:solidFill>
              </a:rPr>
              <a:t>만든 뒤 누가 운영하고 개선할지 정해져 있지 않습니다.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554326-D00C-4B92-A734-2AC41C64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E58C8"/>
                </a:solidFill>
              </a:defRPr>
            </a:pPr>
            <a:r>
              <a:rPr sz="1875" b="1">
                <a:solidFill>
                  <a:srgbClr val="0E58C8"/>
                </a:solidFill>
              </a:rPr>
              <a:t>그래서 필요한 것은 단순 도구 도입이 아니라,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E58C8"/>
                </a:solidFill>
              </a:defRPr>
            </a:pPr>
            <a:r>
              <a:rPr sz="1875" b="1">
                <a:solidFill>
                  <a:srgbClr val="0E58C8"/>
                </a:solidFill>
              </a:rPr>
              <a:t>조직이 스스로 판단하고 운영할 수 있게 만드는 실행 체계입니다.</a:t>
            </a:r>
          </a:p>
        </p:txBody>
      </p:sp>
    </p:spTree>
    <p:extLst>
      <p:ext uri="{BB962C8B-B14F-4D97-AF65-F5344CB8AC3E}">
        <p14:creationId xmlns:p14="http://schemas.microsoft.com/office/powerpoint/2010/main" val="13460634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527544-CF19-41C7-A1EA-FF2B5C01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SV AI Native VC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AA1E3-C70E-4F90-90CF-E1AC4A9E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매직에꼴의 접근법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532EF-57CC-4416-836F-66F7F1FE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59BDB-BB87-481B-969A-2535DAA1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60EC2-E541-4CA4-82A8-C0EA4CBD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3627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magicecole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67B08-06D0-4169-BC0F-D242E7CB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8659A-8B9B-4151-A5E1-30600C30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C6B7A"/>
                </a:solidFill>
              </a:defRPr>
            </a:pPr>
            <a:r>
              <a:rPr sz="975" b="0">
                <a:solidFill>
                  <a:srgbClr val="5C6B7A"/>
                </a:solidFill>
              </a:rPr>
              <a:t>90일 AI Native 실행 프로그램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36D67-8319-4304-8DCB-0ACC06B8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714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62420-C0F3-466D-9880-73F4C884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AI 교육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E0F798-05B4-41B2-9B1D-07E2D6B5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80ED"/>
                </a:solidFill>
              </a:defRPr>
            </a:pPr>
            <a:r>
              <a:rPr sz="1275" b="1">
                <a:solidFill>
                  <a:srgbClr val="2F80ED"/>
                </a:solidFill>
              </a:rPr>
              <a:t>공통 언어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BB0F2-F182-48A3-BA82-2DA2BF61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81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F80ED"/>
                </a:solidFill>
              </a:defRPr>
            </a:pPr>
            <a:r>
              <a:rPr sz="225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FE98E7-05B4-4A85-8AC8-430063CA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1714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77BE60-9E66-46B4-BE96-D4382736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955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업무 발굴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컨설팅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ED6552-C140-45CE-9F8B-64EFEF67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813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80ED"/>
                </a:solidFill>
              </a:defRPr>
            </a:pPr>
            <a:r>
              <a:rPr sz="1275" b="1">
                <a:solidFill>
                  <a:srgbClr val="2F80ED"/>
                </a:solidFill>
              </a:rPr>
              <a:t>우선순위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7ED66F-8FD1-47F8-9669-E7800059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81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F80ED"/>
                </a:solidFill>
              </a:defRPr>
            </a:pPr>
            <a:r>
              <a:rPr sz="225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9D15A1-1ECE-4B8A-854D-0E8E0B14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90750"/>
            <a:ext cx="1714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D6F0DE-8972-4C08-A098-1E62B8AE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955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내부 도메인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전문가 양성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C1FB51-2710-4178-91E2-B6DB987C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813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C400"/>
                </a:solidFill>
              </a:defRPr>
            </a:pPr>
            <a:r>
              <a:rPr sz="1275" b="1">
                <a:solidFill>
                  <a:srgbClr val="FFC400"/>
                </a:solidFill>
              </a:rPr>
              <a:t>오너십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43E624-C397-4B31-A5CD-BF0B7C29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81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F80ED"/>
                </a:solidFill>
              </a:defRPr>
            </a:pPr>
            <a:r>
              <a:rPr sz="225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82DE3A-62DA-45EF-BB92-3C896909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1714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1A6EDA-6AB7-463E-B24E-D6C04A20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955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90일 PoC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산출물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D84DA7-1BC6-4143-9E9A-49415DC8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813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80ED"/>
                </a:solidFill>
              </a:defRPr>
            </a:pPr>
            <a:r>
              <a:rPr sz="1275" b="1">
                <a:solidFill>
                  <a:srgbClr val="2F80ED"/>
                </a:solidFill>
              </a:rPr>
              <a:t>실증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000DAA-9600-4D5C-B523-0F919E4C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81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F80ED"/>
                </a:solidFill>
              </a:defRPr>
            </a:pPr>
            <a:r>
              <a:rPr sz="225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E0628F-7C08-4F92-9A97-F0C1F9CF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90750"/>
            <a:ext cx="1714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5DBEF7-ECC1-489C-AC86-70ACDA2E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955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AI Native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추진안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DAD25F-E093-4B33-A5B9-98F19374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813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80ED"/>
                </a:solidFill>
              </a:defRPr>
            </a:pPr>
            <a:r>
              <a:rPr sz="1275" b="1">
                <a:solidFill>
                  <a:srgbClr val="2F80ED"/>
                </a:solidFill>
              </a:rPr>
              <a:t>확산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C6DC81-F19A-47C5-85B4-FB15F006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단순 교육도, 외부 SI 구축도 아닙니다.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내부 업무를 아는 사람과 함께 검증 가능한 산출물을 만드는 방식입니다.</a:t>
            </a:r>
          </a:p>
        </p:txBody>
      </p:sp>
    </p:spTree>
    <p:extLst>
      <p:ext uri="{BB962C8B-B14F-4D97-AF65-F5344CB8AC3E}">
        <p14:creationId xmlns:p14="http://schemas.microsoft.com/office/powerpoint/2010/main" val="3366972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156105-79FC-4F8D-8D6D-6B15D228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SV AI Native VC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F3D60-BC42-4440-8F18-869EE632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90일 프로그램 한눈에 보기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66D39-1B6D-4AF9-9205-0F402D90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86FBD-6E1C-47DE-B4FD-820A7865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CB288-A346-4808-B34F-0CC73F37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3627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magicecole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C0BAB-0AEC-42B4-92B9-AC787316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3D376-12FE-4BC9-B95C-8EAAA61B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C6B7A"/>
                </a:solidFill>
              </a:defRPr>
            </a:pPr>
            <a:r>
              <a:rPr sz="975" b="0">
                <a:solidFill>
                  <a:srgbClr val="5C6B7A"/>
                </a:solidFill>
              </a:rPr>
              <a:t>90일 AI Native 실행 프로그램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864B8-68AF-4B35-A187-90BF254D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2266950" cy="27622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E2645-E0FC-42C3-99A1-E2E40217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318184-395D-4D49-B123-7E1F901B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002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1-2주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6D56DF-3F80-4138-8283-5A12EF42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공통 언어 형성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62308-B07B-442C-B33F-6E701BBC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C6B7A"/>
                </a:solidFill>
              </a:defRPr>
            </a:pPr>
            <a:r>
              <a:rPr sz="1575" b="0">
                <a:solidFill>
                  <a:srgbClr val="5C6B7A"/>
                </a:solidFill>
              </a:rPr>
              <a:t>핵심 교육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C6B7A"/>
                </a:solidFill>
              </a:defRPr>
            </a:pPr>
            <a:r>
              <a:rPr sz="1575" b="0">
                <a:solidFill>
                  <a:srgbClr val="5C6B7A"/>
                </a:solidFill>
              </a:rPr>
              <a:t>업무 후보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588921-2766-478A-B2CE-68B85B36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47850"/>
            <a:ext cx="2266950" cy="27622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166CBB-FCDB-41EC-AF2C-26D2A873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33600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5AF84-D99F-4295-8CB1-15E3801D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2002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3-4주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E435C6-44E8-48F2-95F0-7212CA4F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860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적용 업무 발굴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A04BDC-9EDE-44E5-BEA2-DBBAFECE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95650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C6B7A"/>
                </a:solidFill>
              </a:defRPr>
            </a:pPr>
            <a:r>
              <a:rPr sz="1575" b="0">
                <a:solidFill>
                  <a:srgbClr val="5C6B7A"/>
                </a:solidFill>
              </a:rPr>
              <a:t>ROI 매트릭스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C6B7A"/>
                </a:solidFill>
              </a:defRPr>
            </a:pPr>
            <a:r>
              <a:rPr sz="1575" b="0">
                <a:solidFill>
                  <a:srgbClr val="5C6B7A"/>
                </a:solidFill>
              </a:rPr>
              <a:t>PoC 후보 3개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850C29-143D-4C18-9FDF-A7E0600B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47850"/>
            <a:ext cx="2266950" cy="27622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A4D4C7-BE68-49E7-9585-820A46FE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33600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2F8EE6-F113-4146-BD6E-8AEBEE42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002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5-8주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FE1937-40CC-482D-8383-72C32DB9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860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전문가 양성/설계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A7A0A0-C8F7-44A1-88E2-D254A46B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95650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C6B7A"/>
                </a:solidFill>
              </a:defRPr>
            </a:pPr>
            <a:r>
              <a:rPr sz="1575" b="0">
                <a:solidFill>
                  <a:srgbClr val="5C6B7A"/>
                </a:solidFill>
              </a:rPr>
              <a:t>Context Pack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C6B7A"/>
                </a:solidFill>
              </a:defRPr>
            </a:pPr>
            <a:r>
              <a:rPr sz="1575" b="0">
                <a:solidFill>
                  <a:srgbClr val="5C6B7A"/>
                </a:solidFill>
              </a:rPr>
              <a:t>업무 루프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787162-54E1-4693-BA3B-807CA0F9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47850"/>
            <a:ext cx="2266950" cy="27622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FA3B9A-C6B1-47A6-9965-A0469B63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33600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633C0B-5530-43D9-B41F-97FE0706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02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9-12주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0F01D7-E8C9-492B-95B5-8B1B0F70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860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제작/검증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F6F24A-6E49-4366-BAFA-D2E64038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95650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PoC 산출물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KPI 리포트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627331-695D-482D-9FB2-37555D65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816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E58C8"/>
                </a:solidFill>
              </a:defRPr>
            </a:pPr>
            <a:r>
              <a:rPr sz="2025" b="1">
                <a:solidFill>
                  <a:srgbClr val="0E58C8"/>
                </a:solidFill>
              </a:rPr>
              <a:t>90일의 목표는 ‘학습 완료’가 아니라 ‘조직 안에 남는 산출물’입니다.</a:t>
            </a:r>
          </a:p>
        </p:txBody>
      </p:sp>
    </p:spTree>
    <p:extLst>
      <p:ext uri="{BB962C8B-B14F-4D97-AF65-F5344CB8AC3E}">
        <p14:creationId xmlns:p14="http://schemas.microsoft.com/office/powerpoint/2010/main" val="8883867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3C90B4-987C-4842-903C-5993F8B9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SV AI Native VC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C2E0F-910A-4C3C-A1A4-4BC5D2C8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프로그램 구조: 교육에서 로드맵까지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97AB3-C23E-47C6-A5B1-92ABC5BF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BC706-504C-40AF-B801-578854A3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A5CE1-2003-4EF8-9770-9C775FFB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3627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magicecole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C4BB8-86D2-4B5D-8364-F93CB292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5829B-5468-427C-A486-76F874CC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C6B7A"/>
                </a:solidFill>
              </a:defRPr>
            </a:pPr>
            <a:r>
              <a:rPr sz="975" b="0">
                <a:solidFill>
                  <a:srgbClr val="5C6B7A"/>
                </a:solidFill>
              </a:rPr>
              <a:t>90일 AI Native 실행 프로그램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931DF-D06F-49D6-89DF-D5804069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38481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749D4-57B6-4378-82CA-18F78DA5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단계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585383-F26F-46A9-9974-A3EEE3F8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모듈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F494D0-BD23-488B-9A60-1D4E3FA2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09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핵심 질문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B4FA81-E02C-407B-870D-D2724916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산출물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7C37C1-4BC5-453F-B803-44878446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9A0B6-166C-4BCE-B406-AC78A24E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33A07A-E83B-4CCD-9ABA-F4253E45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3431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F80ED"/>
                </a:solidFill>
              </a:defRPr>
            </a:pPr>
            <a:r>
              <a:rPr sz="1125" b="1">
                <a:solidFill>
                  <a:srgbClr val="2F80ED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5AA6F-501F-4409-896B-FED67941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47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AI Native Literacy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2B26AC-1172-4AE7-8242-8353EA1B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479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C6B7A"/>
                </a:solidFill>
              </a:defRPr>
            </a:pPr>
            <a:r>
              <a:rPr sz="1275" b="0">
                <a:solidFill>
                  <a:srgbClr val="5C6B7A"/>
                </a:solidFill>
              </a:rPr>
              <a:t>기존 AI 활용과 무엇이 다른가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624528-7A23-441F-A839-3AE31061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479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B1F3A"/>
                </a:solidFill>
              </a:defRPr>
            </a:pPr>
            <a:r>
              <a:rPr sz="1275" b="0">
                <a:solidFill>
                  <a:srgbClr val="0B1F3A"/>
                </a:solidFill>
              </a:rPr>
              <a:t>공통 개념 / 업무 후보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490A8F-949D-4DF1-964B-55865853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C26103-31D6-4547-9184-EC865A55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867E06-402E-4EEF-9E2A-5573F719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9527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F80ED"/>
                </a:solidFill>
              </a:defRPr>
            </a:pPr>
            <a:r>
              <a:rPr sz="1125" b="1">
                <a:solidFill>
                  <a:srgbClr val="2F80ED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FBD957-BF61-40D0-9AC1-25747974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57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Work Discovery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2BB2CF-EC06-47B0-A127-1FDF359A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75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C6B7A"/>
                </a:solidFill>
              </a:defRPr>
            </a:pPr>
            <a:r>
              <a:rPr sz="1275" b="0">
                <a:solidFill>
                  <a:srgbClr val="5C6B7A"/>
                </a:solidFill>
              </a:rPr>
              <a:t>SV 업무 중 어디서 ROI가 먼저 확인되는가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5C78E6-1D1F-4BCD-AD5E-C213ADB3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575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B1F3A"/>
                </a:solidFill>
              </a:defRPr>
            </a:pPr>
            <a:r>
              <a:rPr sz="1275" b="0">
                <a:solidFill>
                  <a:srgbClr val="0B1F3A"/>
                </a:solidFill>
              </a:rPr>
              <a:t>업무 인벤토리 / ROI 매트릭스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98CFA5-CCD6-4135-AFB3-0E3ABEC9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241F53-419A-4BD0-B45B-7636871B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48E862-D2D1-4D93-85F5-99C2B437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5623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61491E-424E-497C-BB6A-26D6ED9D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67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Domain Expert Bootcamp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59CA2A-CD92-4AEF-9CC2-D76CBEEE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C6B7A"/>
                </a:solidFill>
              </a:defRPr>
            </a:pPr>
            <a:r>
              <a:rPr sz="1275" b="0">
                <a:solidFill>
                  <a:srgbClr val="5C6B7A"/>
                </a:solidFill>
              </a:rPr>
              <a:t>내부 인력이 어떻게 AI와 함께 일할 것인가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1A25E4-8934-41A2-82BD-DA7469BE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671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B1F3A"/>
                </a:solidFill>
              </a:defRPr>
            </a:pPr>
            <a:r>
              <a:rPr sz="1275" b="0">
                <a:solidFill>
                  <a:srgbClr val="0B1F3A"/>
                </a:solidFill>
              </a:rPr>
              <a:t>전문가 후보 / Context Pack v1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FE1D62-064D-4689-AA68-86849408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B79A30-C532-4257-BFD5-99F29B01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F1BDEE-FA09-4D42-9A92-AB7749D7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1719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F80ED"/>
                </a:solidFill>
              </a:defRPr>
            </a:pPr>
            <a:r>
              <a:rPr sz="1125" b="1">
                <a:solidFill>
                  <a:srgbClr val="2F80ED"/>
                </a:solidFill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23F1DF-2A0D-4BD8-B383-21AD5734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76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PoC Build &amp; Validation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0717B7-C9C8-4AFD-80FA-E299A133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767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C6B7A"/>
                </a:solidFill>
              </a:defRPr>
            </a:pPr>
            <a:r>
              <a:rPr sz="1275" b="0">
                <a:solidFill>
                  <a:srgbClr val="5C6B7A"/>
                </a:solidFill>
              </a:rPr>
              <a:t>실제 산출물이 업무에 쓸 만한가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361F82-412A-417F-A49C-72893C45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767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B1F3A"/>
                </a:solidFill>
              </a:defRPr>
            </a:pPr>
            <a:r>
              <a:rPr sz="1275" b="0">
                <a:solidFill>
                  <a:srgbClr val="0B1F3A"/>
                </a:solidFill>
              </a:rPr>
              <a:t>검증용 PoC / 테스트 로그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8C6242-AC96-46D3-8BE8-0F36F564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31ADBB-4678-49E2-8DCA-77528733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044CB7-D2C2-4030-A01D-82A50CCE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7815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F80ED"/>
                </a:solidFill>
              </a:defRPr>
            </a:pPr>
            <a:r>
              <a:rPr sz="1125" b="1">
                <a:solidFill>
                  <a:srgbClr val="2F80ED"/>
                </a:solidFill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35156E-98DE-4654-A993-C9E74B5E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86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AI Native Roadmap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66D493-3AB2-4645-AE1B-1C522C0D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863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C6B7A"/>
                </a:solidFill>
              </a:defRPr>
            </a:pPr>
            <a:r>
              <a:rPr sz="1275" b="0">
                <a:solidFill>
                  <a:srgbClr val="5C6B7A"/>
                </a:solidFill>
              </a:rPr>
              <a:t>조직 확산은 어떻게 할 것인가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AE794E-987F-455C-A968-8CFFC8CA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863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B1F3A"/>
                </a:solidFill>
              </a:defRPr>
            </a:pPr>
            <a:r>
              <a:rPr sz="1275" b="0">
                <a:solidFill>
                  <a:srgbClr val="0B1F3A"/>
                </a:solidFill>
              </a:rPr>
              <a:t>KPI 리포트 / 확장 로드맵</a:t>
            </a:r>
          </a:p>
        </p:txBody>
      </p:sp>
    </p:spTree>
    <p:extLst>
      <p:ext uri="{BB962C8B-B14F-4D97-AF65-F5344CB8AC3E}">
        <p14:creationId xmlns:p14="http://schemas.microsoft.com/office/powerpoint/2010/main" val="19460566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C5393F-B18A-4917-B808-92CB24AC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SV AI Native VC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18AB3-7D0C-409B-BA47-27389413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내부 도메인 전문가를 남기는 프로그램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8D418-B4BA-4B3B-987C-2C0808FC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1A10C-DEEA-4A4B-836A-A7FA58E8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6645C-AC7C-42C2-9E09-41D9B362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3627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magicecole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411EB-2E23-4F2B-A2D4-71E864DF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A9ACD-FCB5-4D34-B990-FAC858BF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C6B7A"/>
                </a:solidFill>
              </a:defRPr>
            </a:pPr>
            <a:r>
              <a:rPr sz="975" b="0">
                <a:solidFill>
                  <a:srgbClr val="5C6B7A"/>
                </a:solidFill>
              </a:rPr>
              <a:t>90일 AI Native 실행 프로그램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7A1D6-1825-474D-A105-45BF95B2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381250" cy="28765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C74F7-A1F7-4ED7-95EF-8A305CF4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95500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Sponsor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CF0220-C424-4BCE-B5B2-FF81E8FE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432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1명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EFA19B-28FC-4A04-BFA8-A2B7C076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본부장/파트너급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우선순위와 의사결정 지원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DB798-03AF-4E49-AE40-96C158E2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09750"/>
            <a:ext cx="2381250" cy="28765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DC6AD-DD4F-42AF-95EC-00412C3D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09750"/>
            <a:ext cx="762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F3D2AF-D901-40E0-9EDA-663898BD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Domain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Owner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F8B8DC-E4C6-43EE-ABBF-8107AB47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432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2-3명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0DC336-E8A8-4243-BF6B-8CD7A933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1945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심사역/스태프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업무 정의와 산출물 리뷰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551AF8-2307-4162-A619-00352693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2381250" cy="28765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EAD5E4-7DA3-461E-9CB8-9028A889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95500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Operation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Owner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320216-7351-4CD2-8BE1-CBAECAC9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432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1명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6110E5-200A-4F2A-90E4-A9BAF854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1945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자료 관리, 보안/권한,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회의체 운영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326DC9-8AAD-44A9-A46F-86D8FC60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09750"/>
            <a:ext cx="2381250" cy="28765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79845D-9027-4BE7-8A5F-FFC08356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95500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MagicEcole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Team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91E571-1356-44BE-9A82-9B2E3A25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432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2-3명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406458-1681-43BC-8F1E-597D6F23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1945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교육, 업무 분석,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하네스 설계, PoC 제작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CDC465-CC89-46EA-B688-16F9DA3F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핵심 산출물은 도구 하나가 아니라,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AI Native 방식으로 자기 업무를 정의하고 검증할 수 있는 내부 실행자입니다.</a:t>
            </a:r>
          </a:p>
        </p:txBody>
      </p:sp>
    </p:spTree>
    <p:extLst>
      <p:ext uri="{BB962C8B-B14F-4D97-AF65-F5344CB8AC3E}">
        <p14:creationId xmlns:p14="http://schemas.microsoft.com/office/powerpoint/2010/main" val="3162891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F85F47-F4E8-4C5E-979E-4747F388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SV AI Native VC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C2C8C-4027-4B63-A861-DC457198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90일 후 내부에 남아야 할 역량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913D4-E51A-45CE-A735-A0EB18E3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751F4-572C-49A9-95A3-6BDCB7A6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819A2-BE4D-4671-AA7E-074DB66A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3627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magicecole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A0897-B170-45D3-BE1C-96668E58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34E07-5574-47C1-BA13-FFA7F25F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C6B7A"/>
                </a:solidFill>
              </a:defRPr>
            </a:pPr>
            <a:r>
              <a:rPr sz="975" b="0">
                <a:solidFill>
                  <a:srgbClr val="5C6B7A"/>
                </a:solidFill>
              </a:rPr>
              <a:t>90일 AI Native 실행 프로그램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5FFB6-D81B-47AD-AFA8-9057E6DD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9715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4FC7A-BFC9-4725-94AC-34CCDA1A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743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8841B-FA0E-4EEC-9A92-729D52D4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90700"/>
            <a:ext cx="114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AB816-ADB5-45EB-B9E3-E300765B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62125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AI 적용 가능 업무를 스스로 분류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391F7-233B-487B-B51E-14AEFECD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9715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41D29A-F28B-43DD-BDE6-79FF5A52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669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F41B59-9761-487D-B021-9DD5244F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14600"/>
            <a:ext cx="114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E07877-353D-4313-85BB-5AA79C63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86025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PoC 후보를 ROI와 실행 난이도로 우선순위화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806A3A-D94E-47B6-8A7E-BDBF8CC1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86100"/>
            <a:ext cx="9715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F28A9D-FB2D-4BB9-89D2-FBFA7E6D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90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D3412-0C2E-4C8F-ACB9-2D21D9D9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0"/>
            <a:ext cx="114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763664-5F9B-4CCE-9F91-E5C6CCB1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09925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업무별 Context Pack 구성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5653E9-91BB-40F7-A8D9-D375F1DD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0000"/>
            <a:ext cx="9715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5C1812-C164-491D-9033-A4723246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14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6F71D7-4F74-4E60-9B41-45A240C5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962400"/>
            <a:ext cx="114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8841FB-E41F-4C62-9B38-A222E03A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33825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AI 산출물 검토와 개선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9747E0-B2E3-4A32-AAC0-D088E2EC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33900"/>
            <a:ext cx="9715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2586D3-2ACD-44BA-8692-3376B9E3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38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06A3F2-7783-4C39-A020-D2DBBFCE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86300"/>
            <a:ext cx="114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F49223-7DD9-4485-B927-C93B9D30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57725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외부 파트너와 PoC 검증 범위 정의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B781AF-73E5-49B6-8EA0-92A2A89B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435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E58C8"/>
                </a:solidFill>
              </a:defRPr>
            </a:pPr>
            <a:r>
              <a:rPr sz="1800" b="1">
                <a:solidFill>
                  <a:srgbClr val="0E58C8"/>
                </a:solidFill>
              </a:rPr>
              <a:t>이 역량이 남아야 이후 SV 내부 도입과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E58C8"/>
                </a:solidFill>
              </a:defRPr>
            </a:pPr>
            <a:r>
              <a:rPr sz="1800" b="1">
                <a:solidFill>
                  <a:srgbClr val="0E58C8"/>
                </a:solidFill>
              </a:rPr>
              <a:t>포트폴리오 확산이 반복 가능합니다.</a:t>
            </a:r>
          </a:p>
        </p:txBody>
      </p:sp>
    </p:spTree>
    <p:extLst>
      <p:ext uri="{BB962C8B-B14F-4D97-AF65-F5344CB8AC3E}">
        <p14:creationId xmlns:p14="http://schemas.microsoft.com/office/powerpoint/2010/main" val="1780704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6D73E8-AECD-41FD-A0FF-EAA65DBE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SV AI Native VC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5C366-C215-47DE-9B63-519B24CB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PoC는 프로그램 안에서 선택됩니다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F38A5-7399-44FD-B471-9C7476D9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D261E-1BBD-4F87-9788-50413512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78BD1-E413-4525-A37C-65BE6157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3627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magicecole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B181F-4C86-428F-A891-6227C158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35715-183F-4CC4-804B-80D84ECF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C6B7A"/>
                </a:solidFill>
              </a:defRPr>
            </a:pPr>
            <a:r>
              <a:rPr sz="975" b="0">
                <a:solidFill>
                  <a:srgbClr val="5C6B7A"/>
                </a:solidFill>
              </a:rPr>
              <a:t>90일 AI Native 실행 프로그램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F7771-1F98-42F9-AD95-842353FD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31813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EB54F-DA24-41A0-A92A-0D1E46D2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44BA77-105E-4474-BB9F-EFF0379A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76450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투자검토/IC Copilot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EA5216-FAF5-454F-B6B2-AA47AF1D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B7A"/>
                </a:solidFill>
              </a:defRPr>
            </a:pPr>
            <a:r>
              <a:rPr sz="1200" b="1">
                <a:solidFill>
                  <a:srgbClr val="5C6B7A"/>
                </a:solidFill>
              </a:rPr>
              <a:t>언제 선택하나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46BD5-9509-4E88-A3AF-C6781723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62300"/>
            <a:ext cx="2533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B7A"/>
                </a:solidFill>
              </a:defRPr>
            </a:pPr>
            <a:r>
              <a:rPr sz="1200" b="0">
                <a:solidFill>
                  <a:srgbClr val="5C6B7A"/>
                </a:solidFill>
              </a:rPr>
              <a:t>SV 내부 업무 효율과 품질 표준화가 우선일 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1D3DC-7221-492A-958E-D37CB568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43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B7A"/>
                </a:solidFill>
              </a:defRPr>
            </a:pPr>
            <a:r>
              <a:rPr sz="1200" b="1">
                <a:solidFill>
                  <a:srgbClr val="5C6B7A"/>
                </a:solidFill>
              </a:rPr>
              <a:t>90일 산출물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A17691-81E8-4150-AE57-16E92294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00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</a:defRPr>
            </a:pPr>
            <a:r>
              <a:rPr sz="1200" b="0">
                <a:solidFill>
                  <a:srgbClr val="0B1F3A"/>
                </a:solidFill>
              </a:rPr>
              <a:t>샘플 딜 3건 투자검토 패키지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</a:defRPr>
            </a:pPr>
            <a:r>
              <a:rPr sz="1200" b="0">
                <a:solidFill>
                  <a:srgbClr val="0B1F3A"/>
                </a:solidFill>
              </a:rPr>
              <a:t>IC 초안, 리스크 로그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E71A60-7E58-455C-8AD4-D469FA6A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90700"/>
            <a:ext cx="31813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F2C691-8EA5-4D43-9973-7CEE8721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907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A70CC7-632A-44E4-A00F-CD0C3AA8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76450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Portfolio Value-up Radar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A7B043-ADAB-4BD8-95EF-90A96FDB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95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B7A"/>
                </a:solidFill>
              </a:defRPr>
            </a:pPr>
            <a:r>
              <a:rPr sz="1200" b="1">
                <a:solidFill>
                  <a:srgbClr val="5C6B7A"/>
                </a:solidFill>
              </a:rPr>
              <a:t>언제 선택하나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89EABB-20FD-4F00-82BF-DF9E019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62300"/>
            <a:ext cx="2533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B7A"/>
                </a:solidFill>
              </a:defRPr>
            </a:pPr>
            <a:r>
              <a:rPr sz="1200" b="0">
                <a:solidFill>
                  <a:srgbClr val="5C6B7A"/>
                </a:solidFill>
              </a:rPr>
              <a:t>본부 차원의 포트폴리오 Value-up 모델이 우선일 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46878A-846D-4127-82F0-117B27CF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43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B7A"/>
                </a:solidFill>
              </a:defRPr>
            </a:pPr>
            <a:r>
              <a:rPr sz="1200" b="1">
                <a:solidFill>
                  <a:srgbClr val="5C6B7A"/>
                </a:solidFill>
              </a:rPr>
              <a:t>90일 산출물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10CE45-52A7-4239-9D60-07F78055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100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</a:defRPr>
            </a:pPr>
            <a:r>
              <a:rPr sz="1200" b="0">
                <a:solidFill>
                  <a:srgbClr val="0B1F3A"/>
                </a:solidFill>
              </a:rPr>
              <a:t>포트폴리오 10개사 Scorecard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</a:defRPr>
            </a:pPr>
            <a:r>
              <a:rPr sz="1200" b="0">
                <a:solidFill>
                  <a:srgbClr val="0B1F3A"/>
                </a:solidFill>
              </a:rPr>
              <a:t>상위 3개 PoC 후보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2804A0-47B6-4942-89A0-D3CBECF8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31813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168F7C-6CDE-460D-964C-534E7975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2E879F-6DD6-4D0D-914F-ED39274E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76450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Global BD &amp; Evidence Agent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183499-79F0-4922-91B7-4FC54F67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95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B7A"/>
                </a:solidFill>
              </a:defRPr>
            </a:pPr>
            <a:r>
              <a:rPr sz="1200" b="1">
                <a:solidFill>
                  <a:srgbClr val="5C6B7A"/>
                </a:solidFill>
              </a:rPr>
              <a:t>언제 선택하나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163796-2B68-49F2-AE65-0146A4AD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62300"/>
            <a:ext cx="2533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B7A"/>
                </a:solidFill>
              </a:defRPr>
            </a:pPr>
            <a:r>
              <a:rPr sz="1200" b="0">
                <a:solidFill>
                  <a:srgbClr val="5C6B7A"/>
                </a:solidFill>
              </a:rPr>
              <a:t>딥테크/바이오/글로벌 확장이 우선일 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59D3EF-D8D5-46D3-B61E-6196B986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43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B7A"/>
                </a:solidFill>
              </a:defRPr>
            </a:pPr>
            <a:r>
              <a:rPr sz="1200" b="1">
                <a:solidFill>
                  <a:srgbClr val="5C6B7A"/>
                </a:solidFill>
              </a:rPr>
              <a:t>90일 산출물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4A489A-EB63-4BC3-BE2B-062D1B6A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100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</a:defRPr>
            </a:pPr>
            <a:r>
              <a:rPr sz="1200" b="0">
                <a:solidFill>
                  <a:srgbClr val="0B1F3A"/>
                </a:solidFill>
              </a:rPr>
              <a:t>글로벌 파트너 롱리스트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</a:defRPr>
            </a:pPr>
            <a:r>
              <a:rPr sz="1200" b="0">
                <a:solidFill>
                  <a:srgbClr val="0B1F3A"/>
                </a:solidFill>
              </a:rPr>
              <a:t>상위 10개 접근 브리프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3D8D21-D495-4F00-BB6D-C6BF70C6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578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중요한 것은 지금 셋 중 하나를 고르는 것이 아니라,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SV 안에서 ROI가 가장 큰 업무를 함께 찾는 것입니다.</a:t>
            </a:r>
          </a:p>
        </p:txBody>
      </p:sp>
    </p:spTree>
    <p:extLst>
      <p:ext uri="{BB962C8B-B14F-4D97-AF65-F5344CB8AC3E}">
        <p14:creationId xmlns:p14="http://schemas.microsoft.com/office/powerpoint/2010/main" val="6767432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0115FA-985F-4848-A727-46BC6C99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SV AI Native VC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25B48-C0E1-4EE1-9C9F-307CA943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오늘 정할 후속 검토 사항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692FC-2E9F-4B12-B896-91F46583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0D49B-F8D5-4D79-9214-28801677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69A3D-5600-4548-93E3-1310E944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3627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magicecole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B5E92-2A3C-4849-B4D9-0E8D392C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D82DF-D030-48E5-BF18-91AA97DA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C6B7A"/>
                </a:solidFill>
              </a:defRPr>
            </a:pPr>
            <a:r>
              <a:rPr sz="975" b="0">
                <a:solidFill>
                  <a:srgbClr val="5C6B7A"/>
                </a:solidFill>
              </a:rPr>
              <a:t>90일 AI Native 실행 프로그램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5E778D-29DB-40CB-ABD5-73286725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19250"/>
            <a:ext cx="9429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3598C-E9FF-4A6D-9C95-27F140FB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430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4554B-A322-4415-B87C-BABC4556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762125"/>
            <a:ext cx="800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90일 AI Native 실행 프로그램을 검토할 것인가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8CD51-FE1A-40FC-AED0-E8026A2B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81250"/>
            <a:ext cx="9429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8A25ED-E88B-4901-8443-C2B64653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050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7A2F82-BCBA-40FC-AC7B-DE96F875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524125"/>
            <a:ext cx="800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SV 내부 참여 후보 3-5명을 정할 수 있는가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AE30C-767E-491C-A7DB-0A60A865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43250"/>
            <a:ext cx="9429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5A975D-D765-4731-8A9D-53156251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670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6D90F-DCAB-421C-9584-BF0A0624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286125"/>
            <a:ext cx="800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샘플 업무/자료 범위를 정할 수 있는가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08E2A0-1352-473F-B673-378F8ADE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05250"/>
            <a:ext cx="9429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0B71C8-6582-4B54-A5B8-2C8FEE19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290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8D63A8-D6C5-4F65-8D10-0C2C1544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48125"/>
            <a:ext cx="800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30분 후속 미팅에서 첫 진단 범위를 협의할 것인가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4D1C57-5B6E-43CD-9438-CFF1A2AC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95875"/>
            <a:ext cx="8001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A966F5-AEC9-4A9B-A067-B281C1B6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578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PoC 계약 요청이 아니라, 90일 실행 프로그램을 검토할 30분 후속 미팅입니다.</a:t>
            </a:r>
          </a:p>
        </p:txBody>
      </p:sp>
    </p:spTree>
    <p:extLst>
      <p:ext uri="{BB962C8B-B14F-4D97-AF65-F5344CB8AC3E}">
        <p14:creationId xmlns:p14="http://schemas.microsoft.com/office/powerpoint/2010/main" val="265929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58C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7FE0FE-E6F4-403E-A2EB-72BD0717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C400"/>
                </a:solidFill>
              </a:defRPr>
            </a:pPr>
            <a:r>
              <a:rPr sz="1500" b="1">
                <a:solidFill>
                  <a:srgbClr val="FFC400"/>
                </a:solidFill>
              </a:rPr>
              <a:t>마무리 메시지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F3620-214A-4441-B4B3-CA35A054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중요한 것은 지금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세 가지 중 하나를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고르는 것이 아닙니다.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F251E-52F2-4F1E-99F2-3A736957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2762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760E7-0DA5-49CE-95B4-E23FF6C4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7905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SV 안에서 가장 ROI가 큰 업무를 찾고,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내부 인력과 함께 검증 가능한 산출물을 만드는 것입니다.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6D0A9-4666-4026-9D2C-97D09CB2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7810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6DBEA-84A2-4C56-9A5E-A8B4FD62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다음 단계: SV 내부 참여 후보 3-5명과 첫 진단 업무를 정하는 30분 미팅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35CD2-A862-4605-B99C-CE7A0E2E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953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magicecole</a:t>
            </a:r>
          </a:p>
        </p:txBody>
      </p:sp>
    </p:spTree>
    <p:extLst>
      <p:ext uri="{BB962C8B-B14F-4D97-AF65-F5344CB8AC3E}">
        <p14:creationId xmlns:p14="http://schemas.microsoft.com/office/powerpoint/2010/main" val="6240505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2026-06-24T06:20:13.3920000Z</dcterms:created>
  <dcterms:modified xsi:type="dcterms:W3CDTF">2026-06-24T06:20:13.3920000Z</dcterms:modified>
</coreProperties>
</file>